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0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COMP9900 · Team 9900-W18C-CAKE · UNSW Sydney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0" b="0" i="0">
                <a:solidFill>
                  <a:srgbClr val="E8F4F8"/>
                </a:solidFill>
                <a:latin typeface="Georgia" panose="02040502050405090303"/>
              </a:rPr>
              <a:t>Medi</a:t>
            </a:r>
            <a:endParaRPr sz="108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29050" y="1369695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0" b="0" i="1">
                <a:solidFill>
                  <a:srgbClr val="00E5C0"/>
                </a:solidFill>
                <a:latin typeface="Georgia" panose="02040502050405090303"/>
              </a:rPr>
              <a:t>Chain</a:t>
            </a:r>
            <a:endParaRPr sz="108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6A9BB5"/>
                </a:solidFill>
                <a:latin typeface="Calibri"/>
              </a:rPr>
              <a:t>A Multi-Agent Collaborative System for
Empathetic Clinical Diagnostic Reasoning</a:t>
            </a:r>
            <a:endParaRPr sz="20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4434840"/>
            <a:ext cx="41148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0E5C0"/>
                </a:solidFill>
                <a:latin typeface="Georgia" panose="02040502050405090303"/>
              </a:rPr>
              <a:t>48 SP</a:t>
            </a:r>
            <a:endParaRPr sz="34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5230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Story Points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60320" y="4663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0E5C0"/>
                </a:solidFill>
                <a:latin typeface="Georgia" panose="02040502050405090303"/>
              </a:rPr>
              <a:t>47,441</a:t>
            </a:r>
            <a:endParaRPr sz="34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0320" y="5230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Medical Docs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4663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0E5C0"/>
                </a:solidFill>
                <a:latin typeface="Georgia" panose="02040502050405090303"/>
              </a:rPr>
              <a:t>6</a:t>
            </a:r>
            <a:endParaRPr sz="34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5230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Modalities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0" y="4663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0E5C0"/>
                </a:solidFill>
                <a:latin typeface="Georgia" panose="02040502050405090303"/>
              </a:rPr>
              <a:t>3</a:t>
            </a:r>
            <a:endParaRPr sz="34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5230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Languages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0" y="2048256"/>
            <a:ext cx="3291840" cy="2304288"/>
          </a:xfrm>
          <a:prstGeom prst="ellipse">
            <a:avLst/>
          </a:prstGeom>
          <a:noFill/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0" y="2368296"/>
            <a:ext cx="2377440" cy="1664208"/>
          </a:xfrm>
          <a:prstGeom prst="ellipse">
            <a:avLst/>
          </a:prstGeom>
          <a:noFill/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0" y="2688336"/>
            <a:ext cx="1463040" cy="1024127"/>
          </a:xfrm>
          <a:prstGeom prst="ellipse">
            <a:avLst/>
          </a:prstGeom>
          <a:noFill/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0" y="3008376"/>
            <a:ext cx="548640" cy="384048"/>
          </a:xfrm>
          <a:prstGeom prst="ellipse">
            <a:avLst/>
          </a:prstGeom>
          <a:noFill/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80F1A"/>
                </a:solidFill>
                <a:latin typeface="Georgia" panose="02040502050405090303"/>
              </a:rPr>
              <a:t>Mc</a:t>
            </a:r>
            <a:endParaRPr sz="2200" b="1" i="0">
              <a:solidFill>
                <a:srgbClr val="080F1A"/>
              </a:solidFill>
              <a:latin typeface="Georgia" panose="02040502050405090303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9528048" y="2852928"/>
            <a:ext cx="694944" cy="484632"/>
          </a:xfrm>
          <a:prstGeom prst="ellipse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0F1A"/>
                </a:solidFill>
                <a:latin typeface="Consolas"/>
              </a:rPr>
              <a:t>▶  FINAL PRESENTATION</a:t>
            </a:r>
            <a:endParaRPr sz="1200" b="1" i="0">
              <a:solidFill>
                <a:srgbClr val="080F1A"/>
              </a:solidFill>
              <a:latin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502920"/>
            <a:ext cx="2560320" cy="347472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Motivation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02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Problem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70048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Background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Diagnostic errors remain one of healthcare's most persistent and costly failures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2743200" cy="2011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274320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6B6B"/>
                </a:solidFill>
                <a:latin typeface="Georgia" panose="02040502050405090303"/>
              </a:rPr>
              <a:t>12M+</a:t>
            </a:r>
            <a:endParaRPr sz="5200" b="0" i="0">
              <a:solidFill>
                <a:srgbClr val="FF6B6B"/>
              </a:solidFill>
              <a:latin typeface="Georgia" panose="0204050205040509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C8D8"/>
                </a:solidFill>
                <a:latin typeface="Calibri"/>
              </a:rPr>
              <a:t>Diagnostic Errors/Year USA</a:t>
            </a:r>
            <a:endParaRPr sz="1300" b="1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3401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Graber et al., 2013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83280" y="2194560"/>
            <a:ext cx="2743200" cy="2011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194560"/>
            <a:ext cx="274320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5A623"/>
                </a:solidFill>
                <a:latin typeface="Georgia" panose="02040502050405090303"/>
              </a:rPr>
              <a:t>22%</a:t>
            </a:r>
            <a:endParaRPr sz="5200" b="0" i="0">
              <a:solidFill>
                <a:srgbClr val="F5A623"/>
              </a:solidFill>
              <a:latin typeface="Georgia" panose="0204050205040509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2044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C8D8"/>
                </a:solidFill>
                <a:latin typeface="Calibri"/>
              </a:rPr>
              <a:t>Error Rate · Internal Med.</a:t>
            </a:r>
            <a:endParaRPr sz="1300" b="1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20440" y="3401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BMJ Quality &amp; Safety, 2016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09360" y="2194560"/>
            <a:ext cx="2743200" cy="2011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194560"/>
            <a:ext cx="274320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6B6B"/>
                </a:solidFill>
                <a:latin typeface="Georgia" panose="02040502050405090303"/>
              </a:rPr>
              <a:t>$40B</a:t>
            </a:r>
            <a:endParaRPr sz="5200" b="0" i="0">
              <a:solidFill>
                <a:srgbClr val="FF6B6B"/>
              </a:solidFill>
              <a:latin typeface="Georgia" panose="0204050205040509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4652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C8D8"/>
                </a:solidFill>
                <a:latin typeface="Calibri"/>
              </a:rPr>
              <a:t>Annual Cost · Dx Failures</a:t>
            </a:r>
            <a:endParaRPr sz="1300" b="1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3401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CRICO Strategies, 2021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235440" y="2194560"/>
            <a:ext cx="2743200" cy="2011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2194560"/>
            <a:ext cx="2743200" cy="25400"/>
          </a:xfrm>
          <a:prstGeom prst="rect">
            <a:avLst/>
          </a:prstGeom>
          <a:solidFill>
            <a:srgbClr val="6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6A9BB5"/>
                </a:solidFill>
                <a:latin typeface="Georgia" panose="02040502050405090303"/>
              </a:rPr>
              <a:t>71%</a:t>
            </a:r>
            <a:endParaRPr sz="5200" b="0" i="0">
              <a:solidFill>
                <a:srgbClr val="6A9BB5"/>
              </a:solidFill>
              <a:latin typeface="Georgia" panose="020405020504050903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7260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C8D8"/>
                </a:solidFill>
                <a:latin typeface="Calibri"/>
              </a:rPr>
              <a:t>GPT-4 on MedQA bench.</a:t>
            </a:r>
            <a:endParaRPr sz="1300" b="1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72600" y="3401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Kung et al., 2023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200" y="4389120"/>
            <a:ext cx="11247120" cy="1371600"/>
          </a:xfrm>
          <a:prstGeom prst="rect">
            <a:avLst/>
          </a:prstGeom>
          <a:solidFill>
            <a:srgbClr val="1A0E00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Critical Gap:</a:t>
            </a:r>
            <a:endParaRPr sz="1400" b="1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" y="48280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BB5"/>
                </a:solidFill>
                <a:latin typeface="Calibri"/>
              </a:rPr>
              <a:t>GPT-4's 71% MedQA accuracy falls below the &gt;90% clinical threshold. On rare disease classification the gap exceeds 50 percentage points.</a:t>
            </a:r>
            <a:endParaRPr sz="13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Research Gap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03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Existing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35224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Limitations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Current AI diagnostic tools fail on at least one of five critical clinical dimensions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C8D8"/>
                </a:solidFill>
                <a:latin typeface="Consolas"/>
              </a:rPr>
              <a:t>Capability</a:t>
            </a:r>
            <a:endParaRPr sz="1100" b="1" i="0">
              <a:solidFill>
                <a:srgbClr val="A8C8D8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17520" y="2148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Consolas"/>
              </a:rPr>
              <a:t>GPT-4 Standalone</a:t>
            </a:r>
            <a:endParaRPr sz="1100" b="1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0" y="2148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9BB5"/>
                </a:solidFill>
                <a:latin typeface="Consolas"/>
              </a:rPr>
              <a:t>RAG-only</a:t>
            </a:r>
            <a:endParaRPr sz="1100" b="1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0" y="2148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onsolas"/>
              </a:rPr>
              <a:t>Single-Agent</a:t>
            </a:r>
            <a:endParaRPr sz="1100" b="1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C0"/>
                </a:solidFill>
                <a:latin typeface="Consolas"/>
              </a:rPr>
              <a:t>MediChain (ours)</a:t>
            </a:r>
            <a:endParaRPr sz="1100" b="1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2487168"/>
            <a:ext cx="1078992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334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Hallucination Control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63240" y="26334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None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74920" y="2633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△ Partial</a:t>
            </a:r>
            <a:endParaRPr sz="1100" b="0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2633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△ Partial</a:t>
            </a:r>
            <a:endParaRPr sz="1100" b="0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32520" y="26334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✓ RAG + Critic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3035808"/>
            <a:ext cx="11247120" cy="4572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1089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Explainable Reasoning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63240" y="31089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Black-box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74920" y="31089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None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03720" y="31089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△ Single-pass</a:t>
            </a:r>
            <a:endParaRPr sz="1100" b="0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32520" y="31089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✓ Agent chain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3511296"/>
            <a:ext cx="11247120" cy="4572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5844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Clinical Safety Rules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63240" y="3584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None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74920" y="35844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None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03720" y="35844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None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32520" y="35844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✓ Cardiac·Stroke·Drug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3986783"/>
            <a:ext cx="11247120" cy="4572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059935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Multimodal Intake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63240" y="405993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△ Image only</a:t>
            </a:r>
            <a:endParaRPr sz="1100" b="0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74920" y="405993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Text only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03720" y="405993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Text only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32520" y="4059935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✓ 6 modalities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7200" y="4462272"/>
            <a:ext cx="11247120" cy="4572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53542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Empathetic Dialogue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063240" y="45354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None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74920" y="45354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No dialogue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903720" y="45354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None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32520" y="45354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✓ SOCRATES + warmth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0109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Knowledge Currency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063240" y="50109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Static cutoff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74920" y="50109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✓ Dynamic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903720" y="50109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Static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32520" y="50109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✓ 47,441 docs live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7200" y="5413248"/>
            <a:ext cx="11247120" cy="4572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4864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Multi-Disciplinary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063240" y="54864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Single pass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074920" y="54864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No review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903720" y="54864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Single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32520" y="54864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✓ 3 agents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57200" y="5888736"/>
            <a:ext cx="11247120" cy="4572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9618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Verified Citations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63240" y="59618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None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074920" y="59618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△ Retrieval</a:t>
            </a:r>
            <a:endParaRPr sz="1100" b="0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903720" y="59618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✗ None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732520" y="59618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✓ PubMed per Dx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Our Approach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04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MediChain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Design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Four integrated design pillars address each identified limitation simultaneously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5577840" cy="1993392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577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50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4F8"/>
                </a:solidFill>
                <a:latin typeface="Calibri"/>
              </a:rPr>
              <a:t>🤝</a:t>
            </a:r>
            <a:endParaRPr sz="26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F4F8"/>
                </a:solidFill>
                <a:latin typeface="Calibri"/>
              </a:rPr>
              <a:t>Multi-Agent Collaboration</a:t>
            </a:r>
            <a:endParaRPr sz="18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Clinical Team Simulation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Interviewer → SOCRATES structured intake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Diagnostician → ranked differential + evidence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37490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Critic → safety verification + hallucination check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09360" y="2240280"/>
            <a:ext cx="5577840" cy="1993392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240280"/>
            <a:ext cx="557784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350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4F8"/>
                </a:solidFill>
                <a:latin typeface="Calibri"/>
              </a:rPr>
              <a:t>📚</a:t>
            </a:r>
            <a:endParaRPr sz="26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49440" y="23317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F4F8"/>
                </a:solidFill>
                <a:latin typeface="Calibri"/>
              </a:rPr>
              <a:t>Knowledge Grounding (RAG)</a:t>
            </a:r>
            <a:endParaRPr sz="18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49440" y="26517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onsolas"/>
              </a:rPr>
              <a:t>Evidence-Based Reasoning</a:t>
            </a:r>
            <a:endParaRPr sz="10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46520" y="30175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47,441 PubMed abstracts in Qdrant vector DB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338328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BioLORD-2023 768d + BM25 hybrid search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46520" y="37490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PubMed citation with relevance score per claim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5577840" cy="1993392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5577840" cy="25400"/>
          </a:xfrm>
          <a:prstGeom prst="rect">
            <a:avLst/>
          </a:prstGeom>
          <a:solidFill>
            <a:srgbClr val="6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498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4F8"/>
                </a:solidFill>
                <a:latin typeface="Calibri"/>
              </a:rPr>
              <a:t>🔍</a:t>
            </a:r>
            <a:endParaRPr sz="26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" y="44805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F4F8"/>
                </a:solidFill>
                <a:latin typeface="Calibri"/>
              </a:rPr>
              <a:t>Explainable Reasoning</a:t>
            </a:r>
            <a:endParaRPr sz="18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97280" y="48006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Clinical Auditability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516636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Full agent reasoning chain in Results tab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" y="55321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Critic verdict alongside every diagnosis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4360" y="589788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Session exportable as PDF / JSON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309360" y="4389120"/>
            <a:ext cx="5577840" cy="1993392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389120"/>
            <a:ext cx="557784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498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4F8"/>
                </a:solidFill>
                <a:latin typeface="Calibri"/>
              </a:rPr>
              <a:t>💙</a:t>
            </a:r>
            <a:endParaRPr sz="26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49440" y="44805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F4F8"/>
                </a:solidFill>
                <a:latin typeface="Calibri"/>
              </a:rPr>
              <a:t>Empathetic Interaction</a:t>
            </a:r>
            <a:endParaRPr sz="18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49440" y="48006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Consolas"/>
              </a:rPr>
              <a:t>Patient-Centred Design</a:t>
            </a:r>
            <a:endParaRPr sz="1000" b="0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46520" y="516636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Warm language — acknowledges before questioning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46520" y="55321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LLM rewrites lay language to MeSH terms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46520" y="589788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Multilingual: EN / 中文 / 日本語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System Design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05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System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04872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Architecture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Five-layer architecture — each layer independently testable and horizontally scalable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User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4400" y="2194560"/>
            <a:ext cx="356616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194560"/>
            <a:ext cx="356616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2860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8"/>
                </a:solidFill>
                <a:latin typeface="Calibri"/>
              </a:rPr>
              <a:t>React + Vite Frontend ★</a:t>
            </a:r>
            <a:endParaRPr sz="13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4128" y="261518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alibri"/>
              </a:rPr>
              <a:t>Symptom Input · Chat UI · Results · History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663440" y="2194560"/>
            <a:ext cx="356616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2194560"/>
            <a:ext cx="356616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2860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8"/>
                </a:solidFill>
                <a:latin typeface="Calibri"/>
              </a:rPr>
              <a:t>Multimodal Zone ★</a:t>
            </a:r>
            <a:endParaRPr sz="13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73168" y="261518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alibri"/>
              </a:rPr>
              <a:t>DICOM · Video · OCR · Audio · PDF · Compare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412480" y="2194560"/>
            <a:ext cx="356616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194560"/>
            <a:ext cx="356616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2860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8"/>
                </a:solidFill>
                <a:latin typeface="Calibri"/>
              </a:rPr>
              <a:t>i18n + RBAC ★</a:t>
            </a:r>
            <a:endParaRPr sz="13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22208" y="261518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alibri"/>
              </a:rPr>
              <a:t>EN / ZH / JA · Patient view · Provider view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6072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9BB5"/>
                </a:solidFill>
                <a:latin typeface="Calibri"/>
              </a:rPr>
              <a:t>▼</a:t>
            </a:r>
            <a:endParaRPr sz="14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API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400" y="3200400"/>
            <a:ext cx="356616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3200400"/>
            <a:ext cx="3566160" cy="25400"/>
          </a:xfrm>
          <a:prstGeom prst="rect">
            <a:avLst/>
          </a:prstGeom>
          <a:solidFill>
            <a:srgbClr val="1A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32918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8"/>
                </a:solidFill>
                <a:latin typeface="Calibri"/>
              </a:rPr>
              <a:t>FastAPI REST</a:t>
            </a:r>
            <a:endParaRPr sz="13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4128" y="362102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alibri"/>
              </a:rPr>
              <a:t>Session routing · File upload · Export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663440" y="3200400"/>
            <a:ext cx="356616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63440" y="3200400"/>
            <a:ext cx="356616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32918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8"/>
                </a:solidFill>
                <a:latin typeface="Calibri"/>
              </a:rPr>
              <a:t>Multimodal API ★</a:t>
            </a:r>
            <a:endParaRPr sz="13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73168" y="362102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alibri"/>
              </a:rPr>
              <a:t>/analyze/file · /analyze/ocr · /analyze/compare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412480" y="3200400"/>
            <a:ext cx="356616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0" y="3200400"/>
            <a:ext cx="356616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32918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8"/>
                </a:solidFill>
                <a:latin typeface="Calibri"/>
              </a:rPr>
              <a:t>JWT Auth ★</a:t>
            </a:r>
            <a:endParaRPr sz="13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22208" y="362102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alibri"/>
              </a:rPr>
              <a:t>Role claims · /api/provider/* guard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760720" y="4069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9BB5"/>
                </a:solidFill>
                <a:latin typeface="Calibri"/>
              </a:rPr>
              <a:t>▼</a:t>
            </a:r>
            <a:endParaRPr sz="14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" y="4480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Agents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14400" y="4206240"/>
            <a:ext cx="356616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" y="4206240"/>
            <a:ext cx="3566160" cy="25400"/>
          </a:xfrm>
          <a:prstGeom prst="rect">
            <a:avLst/>
          </a:prstGeom>
          <a:solidFill>
            <a:srgbClr val="1A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" y="42976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8"/>
                </a:solidFill>
                <a:latin typeface="Calibri"/>
              </a:rPr>
              <a:t>Interviewer Agent</a:t>
            </a:r>
            <a:endParaRPr sz="13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4128" y="462686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alibri"/>
              </a:rPr>
              <a:t>SOCRATES · Empathetic framing · Multimodal context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663440" y="4206240"/>
            <a:ext cx="356616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63440" y="4206240"/>
            <a:ext cx="3566160" cy="25400"/>
          </a:xfrm>
          <a:prstGeom prst="rect">
            <a:avLst/>
          </a:prstGeom>
          <a:solidFill>
            <a:srgbClr val="1A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73168" y="42976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8"/>
                </a:solidFill>
                <a:latin typeface="Calibri"/>
              </a:rPr>
              <a:t>Diagnostician Agent</a:t>
            </a:r>
            <a:endParaRPr sz="13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773168" y="462686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alibri"/>
              </a:rPr>
              <a:t>Differential Dx · RAG citations · Confidence ranking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412480" y="4206240"/>
            <a:ext cx="356616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0" y="4206240"/>
            <a:ext cx="356616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22208" y="42976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8"/>
                </a:solidFill>
                <a:latin typeface="Calibri"/>
              </a:rPr>
              <a:t>Critic Agent ★</a:t>
            </a:r>
            <a:endParaRPr sz="13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522208" y="462686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alibri"/>
              </a:rPr>
              <a:t>Safety rules · Hallucination check · Drug conflicts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760720" y="5074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9BB5"/>
                </a:solidFill>
                <a:latin typeface="Calibri"/>
              </a:rPr>
              <a:t>▼</a:t>
            </a:r>
            <a:endParaRPr sz="14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1440" y="5486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Knowledge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14400" y="5212080"/>
            <a:ext cx="356616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4400" y="5212080"/>
            <a:ext cx="356616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4128" y="53035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8"/>
                </a:solidFill>
                <a:latin typeface="Calibri"/>
              </a:rPr>
              <a:t>Qdrant Vector DB ★</a:t>
            </a:r>
            <a:endParaRPr sz="13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24128" y="56327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alibri"/>
              </a:rPr>
              <a:t>47,441 docs · BioLORD 768d Dense + BM25 Sparse + RRF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663440" y="5212080"/>
            <a:ext cx="356616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663440" y="5212080"/>
            <a:ext cx="356616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73168" y="53035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8"/>
                </a:solidFill>
                <a:latin typeface="Calibri"/>
              </a:rPr>
              <a:t>LLM Rewriter ★</a:t>
            </a:r>
            <a:endParaRPr sz="13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73168" y="56327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alibri"/>
              </a:rPr>
              <a:t>Patient lang → SNOMED/MeSH terms · 3-variant expansion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412480" y="5212080"/>
            <a:ext cx="3566160" cy="8686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12480" y="5212080"/>
            <a:ext cx="3566160" cy="25400"/>
          </a:xfrm>
          <a:prstGeom prst="rect">
            <a:avLst/>
          </a:prstGeom>
          <a:solidFill>
            <a:srgbClr val="1A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22208" y="53035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8"/>
                </a:solidFill>
                <a:latin typeface="Calibri"/>
              </a:rPr>
              <a:t>SQLite Persistence</a:t>
            </a:r>
            <a:endParaRPr sz="13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522208" y="56327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alibri"/>
              </a:rPr>
              <a:t>Sessions · Messages · Users · Uploads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Core Innovation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06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Three-Agent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30751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Design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Specialised agents operate in sequence, mirroring a real multi-disciplinary clinical team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749039" cy="42062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3749039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3749039" cy="64008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E8F4F8"/>
                </a:solidFill>
                <a:latin typeface="Calibri"/>
              </a:rPr>
              <a:t>🩺</a:t>
            </a:r>
            <a:endParaRPr sz="3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4F8"/>
                </a:solidFill>
                <a:latin typeface="Georgia" panose="02040502050405090303"/>
              </a:rPr>
              <a:t>Interviewer</a:t>
            </a:r>
            <a:endParaRPr sz="24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Patient Intake Specialist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3493008"/>
            <a:ext cx="338328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Opens with empathetic acknowledgement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SOCRATES: Site · Onset · Character · Radiation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Accepts text, voice, video, images as context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Decides when sufficient info collected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6035040"/>
            <a:ext cx="2340864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6071616"/>
            <a:ext cx="2340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C0"/>
                </a:solidFill>
                <a:latin typeface="Consolas"/>
              </a:rPr>
              <a:t>Claude claude-sonnet-4-6</a:t>
            </a:r>
            <a:endParaRPr sz="9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89120" y="2194560"/>
            <a:ext cx="3749039" cy="42062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194560"/>
            <a:ext cx="3749039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194560"/>
            <a:ext cx="3749039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E8F4F8"/>
                </a:solidFill>
                <a:latin typeface="Calibri"/>
              </a:rPr>
              <a:t>🔬</a:t>
            </a:r>
            <a:endParaRPr sz="3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0" y="2788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4F8"/>
                </a:solidFill>
                <a:latin typeface="Georgia" panose="02040502050405090303"/>
              </a:rPr>
              <a:t>Diagnostician</a:t>
            </a:r>
            <a:endParaRPr sz="24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0" y="3200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onsolas"/>
              </a:rPr>
              <a:t>Evidence-Based Diagnosis</a:t>
            </a:r>
            <a:endParaRPr sz="10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72000" y="3493008"/>
            <a:ext cx="3383280" cy="1905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6118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Receives full symptom context from Interviewer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0" y="39776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Fires 3–4 Qdrant hybrid queries via LLM rewrite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0" y="43434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Produces ranked differential: condition · prob. · evidence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0" y="47091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Attaches PubMed citation for every claim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0" y="6035040"/>
            <a:ext cx="2340864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6071616"/>
            <a:ext cx="2340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A623"/>
                </a:solidFill>
                <a:latin typeface="Consolas"/>
              </a:rPr>
              <a:t>RAG-augmented · 47K docs</a:t>
            </a:r>
            <a:endParaRPr sz="9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21040" y="2194560"/>
            <a:ext cx="3749039" cy="42062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2194560"/>
            <a:ext cx="3749039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2194560"/>
            <a:ext cx="3749039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E8F4F8"/>
                </a:solidFill>
                <a:latin typeface="Calibri"/>
              </a:rPr>
              <a:t>⚖️</a:t>
            </a:r>
            <a:endParaRPr sz="3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03920" y="2788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F4F8"/>
                </a:solidFill>
                <a:latin typeface="Georgia" panose="02040502050405090303"/>
              </a:rPr>
              <a:t>Critic</a:t>
            </a:r>
            <a:endParaRPr sz="24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03920" y="3200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Consolas"/>
              </a:rPr>
              <a:t>Clinical Safety Verifier</a:t>
            </a:r>
            <a:endParaRPr sz="1000" b="0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503920" y="3493008"/>
            <a:ext cx="3383280" cy="1905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6118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Reviews Diagnostician's full reasoning chain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03920" y="39776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Checks: logic · evidence alignment · hallucination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503920" y="43434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Hard-coded triggers: STEMI · Stroke FAST · Drug Rx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503920" y="47091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→  Issues: 'Consistent' or specific objection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503920" y="6035040"/>
            <a:ext cx="2258568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7072" y="6071616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6B6B"/>
                </a:solidFill>
                <a:latin typeface="Consolas"/>
              </a:rPr>
              <a:t>Hard-coded safety rules</a:t>
            </a:r>
            <a:endParaRPr sz="900" b="0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A9BB5"/>
                </a:solidFill>
                <a:latin typeface="Consolas"/>
              </a:rPr>
              <a:t>Patient  →  Interviewer  →  Diagnostician  →  Critic  →  Results + Citations</a:t>
            </a:r>
            <a:endParaRPr sz="12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Project Delivery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07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Delivery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35224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Summary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14 user stories · 48 story points · 2 sprints · all targets met on schedule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5577840" cy="347472"/>
          </a:xfrm>
          <a:prstGeom prst="rect">
            <a:avLst/>
          </a:prstGeom>
          <a:solidFill>
            <a:srgbClr val="001410"/>
          </a:solidFill>
          <a:ln w="635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128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SPRINT 1 — Weeks 3–5 · 13 SP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2176272"/>
            <a:ext cx="5486400" cy="347472"/>
          </a:xfrm>
          <a:prstGeom prst="rect">
            <a:avLst/>
          </a:prstGeom>
          <a:solidFill>
            <a:srgbClr val="181000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128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onsolas"/>
              </a:rPr>
              <a:t>SPRINT 2 — Weeks 5–8 · 35 SP</a:t>
            </a:r>
            <a:endParaRPr sz="12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2633472"/>
            <a:ext cx="11247120" cy="384048"/>
          </a:xfrm>
          <a:prstGeom prst="rect">
            <a:avLst/>
          </a:prstGeom>
          <a:solidFill>
            <a:srgbClr val="0A1828"/>
          </a:solidFill>
          <a:ln w="381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97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PROJ-1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91640" y="2697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Symptom Input UI + Session Init API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149840" y="2697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4 SP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64240" y="2697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alibri"/>
              </a:rPr>
              <a:t>✓</a:t>
            </a:r>
            <a:endParaRPr sz="12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3044952"/>
            <a:ext cx="11247120" cy="384048"/>
          </a:xfrm>
          <a:prstGeom prst="rect">
            <a:avLst/>
          </a:prstGeom>
          <a:solidFill>
            <a:srgbClr val="0D1F35"/>
          </a:solidFill>
          <a:ln w="381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PROJ-2–3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9164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Patient Chat UI + Multi-Agent Coordinator Logic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49840" y="3108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5 SP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6424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alibri"/>
              </a:rPr>
              <a:t>✓</a:t>
            </a:r>
            <a:endParaRPr sz="12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3456432"/>
            <a:ext cx="11247120" cy="384048"/>
          </a:xfrm>
          <a:prstGeom prst="rect">
            <a:avLst/>
          </a:prstGeom>
          <a:solidFill>
            <a:srgbClr val="0A1828"/>
          </a:solidFill>
          <a:ln w="381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PROJ-4–6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91640" y="3520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Reasoning Display Panel + DB Schema + RAG Foundation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149840" y="3520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4 SP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64240" y="3520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alibri"/>
              </a:rPr>
              <a:t>✓</a:t>
            </a:r>
            <a:endParaRPr sz="12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7200" y="3867912"/>
            <a:ext cx="11247120" cy="384048"/>
          </a:xfrm>
          <a:prstGeom prst="rect">
            <a:avLst/>
          </a:prstGeom>
          <a:solidFill>
            <a:srgbClr val="0D1F35"/>
          </a:solidFill>
          <a:ln w="381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onsolas"/>
              </a:rPr>
              <a:t>PROJ-7</a:t>
            </a:r>
            <a:endParaRPr sz="10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9164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RAG 2.0 — Qdrant Hybrid Search (Dense + BM25 + RRF)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149840" y="3931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8 SP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064240" y="3931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alibri"/>
              </a:rPr>
              <a:t>✓</a:t>
            </a:r>
            <a:endParaRPr sz="12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4279392"/>
            <a:ext cx="11247120" cy="384048"/>
          </a:xfrm>
          <a:prstGeom prst="rect">
            <a:avLst/>
          </a:prstGeom>
          <a:solidFill>
            <a:srgbClr val="0A1828"/>
          </a:solidFill>
          <a:ln w="381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343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onsolas"/>
              </a:rPr>
              <a:t>PROJ-8</a:t>
            </a:r>
            <a:endParaRPr sz="10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91640" y="4343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Multimodal Input — DICOM, Audio, Video, PDF, OCR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149840" y="4343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8 SP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64240" y="4343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alibri"/>
              </a:rPr>
              <a:t>✓</a:t>
            </a:r>
            <a:endParaRPr sz="12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57200" y="4690872"/>
            <a:ext cx="11247120" cy="384048"/>
          </a:xfrm>
          <a:prstGeom prst="rect">
            <a:avLst/>
          </a:prstGeom>
          <a:solidFill>
            <a:srgbClr val="0D1F35"/>
          </a:solidFill>
          <a:ln w="381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onsolas"/>
              </a:rPr>
              <a:t>PROJ-9</a:t>
            </a:r>
            <a:endParaRPr sz="10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91640" y="4754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Dual Authentication (Patient / Provider) + JWT RBAC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149840" y="4754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5 SP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06424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alibri"/>
              </a:rPr>
              <a:t>✓</a:t>
            </a:r>
            <a:endParaRPr sz="12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" y="5102352"/>
            <a:ext cx="11247120" cy="384048"/>
          </a:xfrm>
          <a:prstGeom prst="rect">
            <a:avLst/>
          </a:prstGeom>
          <a:solidFill>
            <a:srgbClr val="0A1828"/>
          </a:solidFill>
          <a:ln w="381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onsolas"/>
              </a:rPr>
              <a:t>PROJ-10</a:t>
            </a:r>
            <a:endParaRPr sz="10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91640" y="5166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AI Image Annotation — 9-region JSON overlay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149840" y="51663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4 SP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064240" y="5166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alibri"/>
              </a:rPr>
              <a:t>✓</a:t>
            </a:r>
            <a:endParaRPr sz="12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57200" y="5513831"/>
            <a:ext cx="11247120" cy="384048"/>
          </a:xfrm>
          <a:prstGeom prst="rect">
            <a:avLst/>
          </a:prstGeom>
          <a:solidFill>
            <a:srgbClr val="0D1F35"/>
          </a:solidFill>
          <a:ln w="381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577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onsolas"/>
              </a:rPr>
              <a:t>PROJ-11–14</a:t>
            </a:r>
            <a:endParaRPr sz="10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91640" y="55778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Safety Rules · Empathetic AI · i18n (3 langs) · Session Export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149840" y="557783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10 SP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064240" y="55778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alibri"/>
              </a:rPr>
              <a:t>✓</a:t>
            </a:r>
            <a:endParaRPr sz="12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57200" y="5989320"/>
            <a:ext cx="11247120" cy="658368"/>
          </a:xfrm>
          <a:prstGeom prst="rect">
            <a:avLst/>
          </a:prstGeom>
          <a:solidFill>
            <a:srgbClr val="001410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6016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E5C0"/>
                </a:solidFill>
                <a:latin typeface="Georgia" panose="02040502050405090303"/>
              </a:rPr>
              <a:t>48</a:t>
            </a:r>
            <a:endParaRPr sz="22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31520" y="6336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Total SP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313432" y="6016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E5C0"/>
                </a:solidFill>
                <a:latin typeface="Georgia" panose="02040502050405090303"/>
              </a:rPr>
              <a:t>14</a:t>
            </a:r>
            <a:endParaRPr sz="22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313432" y="6336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User Stories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895344" y="6016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E5C0"/>
                </a:solidFill>
                <a:latin typeface="Georgia" panose="02040502050405090303"/>
              </a:rPr>
              <a:t>47,441</a:t>
            </a:r>
            <a:endParaRPr sz="22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95344" y="6336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RAG Docs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477255" y="6016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E5C0"/>
                </a:solidFill>
                <a:latin typeface="Georgia" panose="02040502050405090303"/>
              </a:rPr>
              <a:t>6</a:t>
            </a:r>
            <a:endParaRPr sz="22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77255" y="6336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Modalities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059168" y="6016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E5C0"/>
                </a:solidFill>
                <a:latin typeface="Georgia" panose="02040502050405090303"/>
              </a:rPr>
              <a:t>3</a:t>
            </a:r>
            <a:endParaRPr sz="22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059168" y="6336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Languages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641080" y="6016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E5C0"/>
                </a:solidFill>
                <a:latin typeface="Georgia" panose="02040502050405090303"/>
              </a:rPr>
              <a:t>4</a:t>
            </a:r>
            <a:endParaRPr sz="22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641080" y="6336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New Endpoints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222992" y="6016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E5C0"/>
                </a:solidFill>
                <a:latin typeface="Georgia" panose="02040502050405090303"/>
              </a:rPr>
              <a:t>2</a:t>
            </a:r>
            <a:endParaRPr sz="22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222992" y="6336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  <a:latin typeface="Consolas"/>
              </a:rPr>
              <a:t>Auth Roles</a:t>
            </a:r>
            <a:endParaRPr sz="9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Feature · PROJ-7 ]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08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RAG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9343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2.0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ChromaDB → Qdrant · BioLORD-2023 768d + BM25 + RRF · 9.4× knowledge growth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8288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274320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27432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E5C0"/>
                </a:solidFill>
                <a:latin typeface="Georgia" panose="02040502050405090303"/>
              </a:rPr>
              <a:t>9.4×</a:t>
            </a:r>
            <a:endParaRPr sz="38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816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Knowledge growth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83280" y="2194560"/>
            <a:ext cx="274320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194560"/>
            <a:ext cx="27432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E5C0"/>
                </a:solidFill>
                <a:latin typeface="Georgia" panose="02040502050405090303"/>
              </a:rPr>
              <a:t>2×</a:t>
            </a:r>
            <a:endParaRPr sz="38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20440" y="2816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Richer embeddings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09360" y="2194560"/>
            <a:ext cx="274320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194560"/>
            <a:ext cx="27432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E5C0"/>
                </a:solidFill>
                <a:latin typeface="Georgia" panose="02040502050405090303"/>
              </a:rPr>
              <a:t>3</a:t>
            </a:r>
            <a:endParaRPr sz="38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2816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Search methods fused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235440" y="2194560"/>
            <a:ext cx="274320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2194560"/>
            <a:ext cx="27432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E5C0"/>
                </a:solidFill>
                <a:latin typeface="Georgia" panose="02040502050405090303"/>
              </a:rPr>
              <a:t>4</a:t>
            </a:r>
            <a:endParaRPr sz="38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72600" y="2816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Query variants/search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3401568"/>
            <a:ext cx="7315200" cy="30632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01568"/>
            <a:ext cx="73152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474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onsolas"/>
              </a:rPr>
              <a:t>Demo A vs Demo B — Key Metrics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Knowledge Base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468880" y="3904488"/>
            <a:ext cx="384048" cy="201168"/>
          </a:xfrm>
          <a:prstGeom prst="rect">
            <a:avLst/>
          </a:prstGeom>
          <a:solidFill>
            <a:srgbClr val="8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98648" y="38862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Consolas"/>
              </a:rPr>
              <a:t>~5K</a:t>
            </a:r>
            <a:endParaRPr sz="1000" b="0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468880" y="4123944"/>
            <a:ext cx="3657600" cy="201168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1056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47,441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Embedding Dims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468880" y="4407408"/>
            <a:ext cx="1828800" cy="201168"/>
          </a:xfrm>
          <a:prstGeom prst="rect">
            <a:avLst/>
          </a:prstGeom>
          <a:solidFill>
            <a:srgbClr val="8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3891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Consolas"/>
              </a:rPr>
              <a:t>384d</a:t>
            </a:r>
            <a:endParaRPr sz="1000" b="0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468880" y="4626864"/>
            <a:ext cx="3657600" cy="201168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6085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768d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436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Query Variants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468880" y="4910328"/>
            <a:ext cx="914400" cy="201168"/>
          </a:xfrm>
          <a:prstGeom prst="rect">
            <a:avLst/>
          </a:prstGeom>
          <a:solidFill>
            <a:srgbClr val="8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4892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Consolas"/>
              </a:rPr>
              <a:t>1</a:t>
            </a:r>
            <a:endParaRPr sz="1000" b="0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68880" y="5129784"/>
            <a:ext cx="3657600" cy="201168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51114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3–4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436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Search Methods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468880" y="5413248"/>
            <a:ext cx="1207008" cy="201168"/>
          </a:xfrm>
          <a:prstGeom prst="rect">
            <a:avLst/>
          </a:prstGeom>
          <a:solidFill>
            <a:srgbClr val="8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21608" y="5394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Consolas"/>
              </a:rPr>
              <a:t>Cosine only</a:t>
            </a:r>
            <a:endParaRPr sz="1000" b="0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468880" y="5632704"/>
            <a:ext cx="3657600" cy="201168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56144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Dense+BM25+RRF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94360" y="5897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Recall Coverage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468880" y="5916168"/>
            <a:ext cx="2194560" cy="201168"/>
          </a:xfrm>
          <a:prstGeom prst="rect">
            <a:avLst/>
          </a:prstGeom>
          <a:solidFill>
            <a:srgbClr val="8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09160" y="5897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Consolas"/>
              </a:rPr>
              <a:t>thr=0.25</a:t>
            </a:r>
            <a:endParaRPr sz="1000" b="0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468880" y="6135624"/>
            <a:ext cx="3657600" cy="201168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6117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thr=0.15 ↑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955279" y="3401568"/>
            <a:ext cx="4069080" cy="96012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55279" y="3401568"/>
            <a:ext cx="406908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92440" y="3474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  <a:latin typeface="Calibri"/>
              </a:rPr>
              <a:t>Why BioLORD-2023?</a:t>
            </a:r>
            <a:endParaRPr sz="1300" b="1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092440" y="37490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Pre-trained on SNOMED CT, MeSH, UMLS. Natively understands "heart attack" = "AMI" = "myocardial infarction" without keyword overlap.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955279" y="4407408"/>
            <a:ext cx="4069080" cy="96012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55279" y="4407408"/>
            <a:ext cx="406908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92440" y="44805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  <a:latin typeface="Calibri"/>
              </a:rPr>
              <a:t>Why Hybrid Search?</a:t>
            </a:r>
            <a:endParaRPr sz="1300" b="1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092440" y="47548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Dense vectors match semantics; BM25 matches exact terms. RRF score = Σ 1/(k+rank) fuses both — outperforms either alone on biomedical IR.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955279" y="5413248"/>
            <a:ext cx="4069080" cy="96012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955279" y="5413248"/>
            <a:ext cx="406908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54864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New: /api/rag/ingest  ★</a:t>
            </a:r>
            <a:endParaRPr sz="1300" b="1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092440" y="57607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POST endpoint triggers on-demand PubMed fetch. 60+ ICD-10 search terms. Custom terms via request body. No restart required.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RAG Detail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09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Query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9696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Pipeline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6-stage pipeline — from patient language to PubMed-cited output, including multimodal image rewriting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713232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76272"/>
            <a:ext cx="713232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13432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00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226771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Image Findings → Medical Terms  ★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Claude Vision → raw findings → rewrite_image_findings_for_rag() → SNOMED terms injected into query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2935224"/>
            <a:ext cx="713232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35224"/>
            <a:ext cx="713232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7238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01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302666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LLM Query Rewrite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3337560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"chest tightens when climbing stairs" → "stable angina, exertional chest pain, cardiac ischaemia"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3694176"/>
            <a:ext cx="713232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94176"/>
            <a:ext cx="713232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3133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02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378561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3-Variant Query Expansion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4096512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① Raw text  ② Medical rewrite  ③ "treatment and diagnosis of {term}"  ④ "What is {term}?"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4453127"/>
            <a:ext cx="713232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453127"/>
            <a:ext cx="713232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590287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03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" y="4544567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Qdrant Hybrid Search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0120" y="4855463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Dense (BioLORD cosine) + BM25 sparse in parallel — semantic similarity AND exact clinical term matching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200" y="5212079"/>
            <a:ext cx="713232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212079"/>
            <a:ext cx="713232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34923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04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0120" y="5303519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RRF Fusion → Top 6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60120" y="5614415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score = Σ 1/(k+rank) · Threshold 0.15 · Dedup by doc ID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5971031"/>
            <a:ext cx="713232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971031"/>
            <a:ext cx="713232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10819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05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60120" y="6062471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Cited Diagnostic Output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60120" y="6373367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Condition · probability · PubMed ID · authors · year · relevance score · clickable link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772400" y="2176272"/>
            <a:ext cx="4251960" cy="45262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2176272"/>
            <a:ext cx="425196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22677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onsolas"/>
              </a:rPr>
              <a:t>Knowledge Corpus — 47,441 Docs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909560" y="269748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PubMed Abstracts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909560" y="2971800"/>
            <a:ext cx="3182112" cy="256032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83112" y="2953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~41,000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09560" y="347472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Clinical Guidelines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909560" y="3749040"/>
            <a:ext cx="1024128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25128" y="37307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onsolas"/>
              </a:rPr>
              <a:t>~5,000</a:t>
            </a:r>
            <a:endParaRPr sz="11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909560" y="42519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Case Reports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909560" y="4526280"/>
            <a:ext cx="292608" cy="2560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93608" y="45079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onsolas"/>
              </a:rPr>
              <a:t>~1,441</a:t>
            </a:r>
            <a:endParaRPr sz="1100" b="0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772400" y="5120640"/>
            <a:ext cx="201168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0" y="5120640"/>
            <a:ext cx="201168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E5C0"/>
                </a:solidFill>
                <a:latin typeface="Georgia" panose="02040502050405090303"/>
              </a:rPr>
              <a:t>768d</a:t>
            </a:r>
            <a:endParaRPr sz="38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909560" y="5742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Embedding dims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012680" y="5120640"/>
            <a:ext cx="201168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12680" y="5120640"/>
            <a:ext cx="2011680" cy="25400"/>
          </a:xfrm>
          <a:prstGeom prst="rect">
            <a:avLst/>
          </a:prstGeom>
          <a:solidFill>
            <a:srgbClr val="6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4984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6A9BB5"/>
                </a:solidFill>
                <a:latin typeface="Georgia" panose="02040502050405090303"/>
              </a:rPr>
              <a:t>36M</a:t>
            </a:r>
            <a:endParaRPr sz="3800" b="0" i="0">
              <a:solidFill>
                <a:srgbClr val="6A9BB5"/>
              </a:solidFill>
              <a:latin typeface="Georgia" panose="02040502050405090303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149840" y="5742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Float32 values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Feature · PROJ-8 ]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10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Multimodal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65576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Input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6 clinical input modalities — unified preprocessing pipeline → Claude Vision / Speech / Text agents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749039" cy="2057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3749039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042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4F8"/>
                </a:solidFill>
                <a:latin typeface="Calibri"/>
              </a:rPr>
              <a:t>🩻</a:t>
            </a:r>
            <a:endParaRPr sz="28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DICOM Medical Imaging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.dcm → pydicom → pixel normalise → JPEG → Claude Vision · HU metadata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0" y="2304288"/>
            <a:ext cx="612648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340864"/>
            <a:ext cx="612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C0"/>
                </a:solidFill>
                <a:latin typeface="Consolas"/>
              </a:rPr>
              <a:t>NEW</a:t>
            </a:r>
            <a:endParaRPr sz="9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89120" y="2194560"/>
            <a:ext cx="3749039" cy="2057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194560"/>
            <a:ext cx="3749039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3042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4F8"/>
                </a:solidFill>
                <a:latin typeface="Calibri"/>
              </a:rPr>
              <a:t>🖼</a:t>
            </a:r>
            <a:endParaRPr sz="28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6280" y="283464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Image Analysis + Annotation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26280" y="320040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Claude Vision → ANNOTATIONS_JSON · 9-region grid · numbered dots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89520" y="2304288"/>
            <a:ext cx="612648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2" y="2340864"/>
            <a:ext cx="612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C0"/>
                </a:solidFill>
                <a:latin typeface="Consolas"/>
              </a:rPr>
              <a:t>NEW</a:t>
            </a:r>
            <a:endParaRPr sz="9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321040" y="2194560"/>
            <a:ext cx="3749039" cy="2057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2194560"/>
            <a:ext cx="3749039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3042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4F8"/>
                </a:solidFill>
                <a:latin typeface="Calibri"/>
              </a:rPr>
              <a:t>🎙</a:t>
            </a:r>
            <a:endParaRPr sz="28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58200" y="283464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Audio Transcription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58200" y="320040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Upload MP3/WAV → SpeechRecognition → text → RAG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521440" y="2304288"/>
            <a:ext cx="612648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94592" y="2340864"/>
            <a:ext cx="612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C0"/>
                </a:solidFill>
                <a:latin typeface="Consolas"/>
              </a:rPr>
              <a:t>NEW</a:t>
            </a:r>
            <a:endParaRPr sz="9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4389120"/>
            <a:ext cx="3749039" cy="2057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389120"/>
            <a:ext cx="3749039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4988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4F8"/>
                </a:solidFill>
                <a:latin typeface="Calibri"/>
              </a:rPr>
              <a:t>📹</a:t>
            </a:r>
            <a:endParaRPr sz="28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50292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Video Frame Consultation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" y="53949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Webcam → canvas.toBlob() every 5 s → Claude Vision per frame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57600" y="4498848"/>
            <a:ext cx="612648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30752" y="4535424"/>
            <a:ext cx="612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C0"/>
                </a:solidFill>
                <a:latin typeface="Consolas"/>
              </a:rPr>
              <a:t>NEW</a:t>
            </a:r>
            <a:endParaRPr sz="9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389120" y="4389120"/>
            <a:ext cx="3749039" cy="2057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0" y="4389120"/>
            <a:ext cx="3749039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44988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4F8"/>
                </a:solidFill>
                <a:latin typeface="Calibri"/>
              </a:rPr>
              <a:t>📄</a:t>
            </a:r>
            <a:endParaRPr sz="28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26280" y="50292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PDF / Text Extraction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26280" y="53949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pdfplumber → structured text → semantic embedding → Qdrant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589520" y="4498848"/>
            <a:ext cx="612648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2672" y="4535424"/>
            <a:ext cx="612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C0"/>
                </a:solidFill>
                <a:latin typeface="Consolas"/>
              </a:rPr>
              <a:t>NEW</a:t>
            </a:r>
            <a:endParaRPr sz="9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321040" y="4389120"/>
            <a:ext cx="3749039" cy="2057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21040" y="4389120"/>
            <a:ext cx="3749039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44988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4F8"/>
                </a:solidFill>
                <a:latin typeface="Calibri"/>
              </a:rPr>
              <a:t>✍</a:t>
            </a:r>
            <a:endParaRPr sz="28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458200" y="50292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OCR Handwriting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58200" y="53949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Image upload → Claude Vision → structured clinical text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521440" y="4498848"/>
            <a:ext cx="612648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94592" y="4535424"/>
            <a:ext cx="612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C0"/>
                </a:solidFill>
                <a:latin typeface="Consolas"/>
              </a:rPr>
              <a:t>NEW</a:t>
            </a:r>
            <a:endParaRPr sz="9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Feature · PROJ-10 ]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11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AI Image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35224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Annotation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Claude Vision → structured JSON · 9-region grid · interactive numbered overlays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292608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292608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E5C0"/>
                </a:solidFill>
                <a:latin typeface="Georgia" panose="02040502050405090303"/>
              </a:rPr>
              <a:t>9</a:t>
            </a:r>
            <a:endParaRPr sz="38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816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Annotation region zones (3×3 grid)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914400" cy="502920"/>
          </a:xfrm>
          <a:prstGeom prst="rect">
            <a:avLst/>
          </a:prstGeom>
          <a:solidFill>
            <a:srgbClr val="0028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353872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C0"/>
                </a:solidFill>
                <a:latin typeface="Consolas"/>
              </a:rPr>
              <a:t>UPPER LEFT</a:t>
            </a:r>
            <a:endParaRPr sz="8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63040" y="3429000"/>
            <a:ext cx="914400" cy="502920"/>
          </a:xfrm>
          <a:prstGeom prst="rect">
            <a:avLst/>
          </a:prstGeom>
          <a:solidFill>
            <a:srgbClr val="0D1F35"/>
          </a:solidFill>
          <a:ln w="9525">
            <a:solidFill>
              <a:srgbClr val="1A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9616" y="353872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3552"/>
                </a:solidFill>
                <a:latin typeface="Consolas"/>
              </a:rPr>
              <a:t>UPPER CTR</a:t>
            </a:r>
            <a:endParaRPr sz="800" b="0" i="0">
              <a:solidFill>
                <a:srgbClr val="1A3552"/>
              </a:solidFill>
              <a:latin typeface="Consola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68880" y="3429000"/>
            <a:ext cx="914400" cy="502920"/>
          </a:xfrm>
          <a:prstGeom prst="rect">
            <a:avLst/>
          </a:prstGeom>
          <a:solidFill>
            <a:srgbClr val="0D1F35"/>
          </a:solidFill>
          <a:ln w="9525">
            <a:solidFill>
              <a:srgbClr val="1A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05456" y="353872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3552"/>
                </a:solidFill>
                <a:latin typeface="Consolas"/>
              </a:rPr>
              <a:t>UPPER RIGHT</a:t>
            </a:r>
            <a:endParaRPr sz="800" b="0" i="0">
              <a:solidFill>
                <a:srgbClr val="1A3552"/>
              </a:solidFill>
              <a:latin typeface="Consola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3995928"/>
            <a:ext cx="914400" cy="502920"/>
          </a:xfrm>
          <a:prstGeom prst="rect">
            <a:avLst/>
          </a:prstGeom>
          <a:solidFill>
            <a:srgbClr val="0D1F35"/>
          </a:solidFill>
          <a:ln w="9525">
            <a:solidFill>
              <a:srgbClr val="1A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410565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3552"/>
                </a:solidFill>
                <a:latin typeface="Consolas"/>
              </a:rPr>
              <a:t>MID LEFT</a:t>
            </a:r>
            <a:endParaRPr sz="800" b="0" i="0">
              <a:solidFill>
                <a:srgbClr val="1A3552"/>
              </a:solidFill>
              <a:latin typeface="Consola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63040" y="3995928"/>
            <a:ext cx="914400" cy="502920"/>
          </a:xfrm>
          <a:prstGeom prst="rect">
            <a:avLst/>
          </a:prstGeom>
          <a:solidFill>
            <a:srgbClr val="0D1F35"/>
          </a:solidFill>
          <a:ln w="9525">
            <a:solidFill>
              <a:srgbClr val="1A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9616" y="410565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3552"/>
                </a:solidFill>
                <a:latin typeface="Consolas"/>
              </a:rPr>
              <a:t>MID CTR</a:t>
            </a:r>
            <a:endParaRPr sz="800" b="0" i="0">
              <a:solidFill>
                <a:srgbClr val="1A3552"/>
              </a:solidFill>
              <a:latin typeface="Consola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68880" y="3995928"/>
            <a:ext cx="914400" cy="502920"/>
          </a:xfrm>
          <a:prstGeom prst="rect">
            <a:avLst/>
          </a:prstGeom>
          <a:solidFill>
            <a:srgbClr val="0028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05456" y="410565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C0"/>
                </a:solidFill>
                <a:latin typeface="Consolas"/>
              </a:rPr>
              <a:t>MID RIGHT</a:t>
            </a:r>
            <a:endParaRPr sz="8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4562856"/>
            <a:ext cx="914400" cy="502920"/>
          </a:xfrm>
          <a:prstGeom prst="rect">
            <a:avLst/>
          </a:prstGeom>
          <a:solidFill>
            <a:srgbClr val="0028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" y="467258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E5C0"/>
                </a:solidFill>
                <a:latin typeface="Consolas"/>
              </a:rPr>
              <a:t>LOWER LEFT</a:t>
            </a:r>
            <a:endParaRPr sz="8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463040" y="4562856"/>
            <a:ext cx="914400" cy="502920"/>
          </a:xfrm>
          <a:prstGeom prst="rect">
            <a:avLst/>
          </a:prstGeom>
          <a:solidFill>
            <a:srgbClr val="0D1F35"/>
          </a:solidFill>
          <a:ln w="9525">
            <a:solidFill>
              <a:srgbClr val="1A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99616" y="467258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3552"/>
                </a:solidFill>
                <a:latin typeface="Consolas"/>
              </a:rPr>
              <a:t>LOWER CTR</a:t>
            </a:r>
            <a:endParaRPr sz="800" b="0" i="0">
              <a:solidFill>
                <a:srgbClr val="1A3552"/>
              </a:solidFill>
              <a:latin typeface="Consola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468880" y="4562856"/>
            <a:ext cx="914400" cy="502920"/>
          </a:xfrm>
          <a:prstGeom prst="rect">
            <a:avLst/>
          </a:prstGeom>
          <a:solidFill>
            <a:srgbClr val="0D1F35"/>
          </a:solidFill>
          <a:ln w="9525">
            <a:solidFill>
              <a:srgbClr val="1A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05456" y="467258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3552"/>
                </a:solidFill>
                <a:latin typeface="Consolas"/>
              </a:rPr>
              <a:t>LOWER RIGHT</a:t>
            </a:r>
            <a:endParaRPr sz="800" b="0" i="0">
              <a:solidFill>
                <a:srgbClr val="1A3552"/>
              </a:solidFill>
              <a:latin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53949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Calibri"/>
              </a:rPr>
              <a:t>①</a:t>
            </a:r>
            <a:endParaRPr sz="1400" b="1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53949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Upper-Left — Patchy opacity, consolidation (pneumonia vs. atelectasis)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583387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0"/>
                </a:solidFill>
                <a:latin typeface="Calibri"/>
              </a:rPr>
              <a:t>②</a:t>
            </a:r>
            <a:endParaRPr sz="1400" b="1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" y="58338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Mid-Right pleura — Focal pleural thickening, monitor for effusion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627278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③</a:t>
            </a:r>
            <a:endParaRPr sz="1400" b="1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27278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Lower-Left costophrenic — Blunting, lateral decubitus view suggested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57600" y="2194560"/>
            <a:ext cx="8229600" cy="210312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0" y="2194560"/>
            <a:ext cx="82296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60" y="228600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  <a:latin typeface="Calibri"/>
              </a:rPr>
              <a:t>Structured Output Format:</a:t>
            </a:r>
            <a:endParaRPr sz="1300" b="1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94760" y="260604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4A5"/>
                </a:solidFill>
                <a:latin typeface="Consolas"/>
              </a:rPr>
              <a:t>ANNOTATIONS_JSON:[{"region":"UPPER-LEFT","finding":"patchy opacity","severity":"moderate"},...]</a:t>
            </a:r>
            <a:endParaRPr sz="1100" b="0" i="0">
              <a:solidFill>
                <a:srgbClr val="00C4A5"/>
              </a:solidFill>
              <a:latin typeface="Consola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794760" y="306324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Parsed with json.loads() · validated against 9-region enum · dot markers rendered with CSS pulse animation · hover on dot highlights matching finding in list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657600" y="4434840"/>
            <a:ext cx="8229600" cy="7772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0" y="4434840"/>
            <a:ext cx="822960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94760" y="45262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vs. Demo A:</a:t>
            </a:r>
            <a:endParaRPr sz="1300" b="1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212080" y="452628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Raw image displayed only, no overlay, no findings list. Demo B adds full structured annotation pipeline with Claude Vision JSON output.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657600" y="5349240"/>
            <a:ext cx="1929384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30752" y="5385816"/>
            <a:ext cx="1929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C0"/>
                </a:solidFill>
                <a:latin typeface="Consolas"/>
              </a:rPr>
              <a:t>Multi-image compare</a:t>
            </a:r>
            <a:endParaRPr sz="9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715000" y="5349240"/>
            <a:ext cx="1353312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88152" y="5385816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C0"/>
                </a:solidFill>
                <a:latin typeface="Consolas"/>
              </a:rPr>
              <a:t>DICOM native</a:t>
            </a:r>
            <a:endParaRPr sz="9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772400" y="5349240"/>
            <a:ext cx="1517904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45552" y="5385816"/>
            <a:ext cx="15179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A623"/>
                </a:solidFill>
                <a:latin typeface="Consolas"/>
              </a:rPr>
              <a:t>Hover tooltips</a:t>
            </a:r>
            <a:endParaRPr sz="9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829800" y="5349240"/>
            <a:ext cx="1517904" cy="256032"/>
          </a:xfrm>
          <a:prstGeom prst="rect">
            <a:avLst/>
          </a:prstGeom>
          <a:solidFill>
            <a:srgbClr val="002A22"/>
          </a:solidFill>
          <a:ln w="9525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02952" y="5385816"/>
            <a:ext cx="15179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C0"/>
                </a:solidFill>
                <a:latin typeface="Consolas"/>
              </a:rPr>
              <a:t>JSON validated</a:t>
            </a:r>
            <a:endParaRPr sz="9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Feature · Video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12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Video Frame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30751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Consultation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Real-time webcam consultation — simultaneous speech transcription and frame-by-frame visual analysis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685800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68580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01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getUserMedia() Camera Access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2596896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Browser requests webcam permission · video stream rendered in modal · Web Speech API handles audio separately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685800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68580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461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02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32004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Continuous Speech Transcription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3511296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Web Speech API — continuous + interimResults · lang from navigator.language · interim text overlaid on video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685800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23360"/>
            <a:ext cx="68580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1605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03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41148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Automatic Frame Capture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4425696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canvas.toBlob() captures JPEG every 5 s (FRAME_INTERVAL_MS=5000) · POST /api/analyze/file · Claude Vision analyses each frame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685800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68580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0749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04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" y="50292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Stop → Bundle Context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0120" y="5340096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Transcript + all frame analyses combined → structured message → AI Interviewer as multimodal context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680960" y="2194560"/>
            <a:ext cx="201168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0" y="2194560"/>
            <a:ext cx="201168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E5C0"/>
                </a:solidFill>
                <a:latin typeface="Georgia" panose="02040502050405090303"/>
              </a:rPr>
              <a:t>5 s</a:t>
            </a:r>
            <a:endParaRPr sz="38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818120" y="2816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Frame capture interval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829800" y="2194560"/>
            <a:ext cx="201168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29800" y="2194560"/>
            <a:ext cx="201168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E5C0"/>
                </a:solidFill>
                <a:latin typeface="Georgia" panose="02040502050405090303"/>
              </a:rPr>
              <a:t>6</a:t>
            </a:r>
            <a:endParaRPr sz="38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966960" y="2816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Max frames/session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680960" y="3383280"/>
            <a:ext cx="201168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3383280"/>
            <a:ext cx="201168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5A623"/>
                </a:solidFill>
                <a:latin typeface="Georgia" panose="02040502050405090303"/>
              </a:rPr>
              <a:t>3</a:t>
            </a:r>
            <a:endParaRPr sz="3800" b="0" i="0">
              <a:solidFill>
                <a:srgbClr val="F5A623"/>
              </a:solidFill>
              <a:latin typeface="Georgia" panose="020405020504050903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18120" y="4005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Speech lang options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829800" y="3383280"/>
            <a:ext cx="201168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29800" y="3383280"/>
            <a:ext cx="2011680" cy="25400"/>
          </a:xfrm>
          <a:prstGeom prst="rect">
            <a:avLst/>
          </a:prstGeom>
          <a:solidFill>
            <a:srgbClr val="6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6696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6A9BB5"/>
                </a:solidFill>
                <a:latin typeface="Georgia" panose="02040502050405090303"/>
              </a:rPr>
              <a:t>0</a:t>
            </a:r>
            <a:endParaRPr sz="3800" b="0" i="0">
              <a:solidFill>
                <a:srgbClr val="6A9BB5"/>
              </a:solidFill>
              <a:latin typeface="Georgia" panose="020405020504050903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66960" y="4005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Extra npm deps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680960" y="4645152"/>
            <a:ext cx="429768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80960" y="4645152"/>
            <a:ext cx="429768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18120" y="470916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  <a:latin typeface="Calibri"/>
              </a:rPr>
              <a:t>Clinical Value:</a:t>
            </a:r>
            <a:endParaRPr sz="1300" b="1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818120" y="4974336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Patients with mobility limitations can describe symptoms verbally while showing affected areas on camera. Richer context than text alone.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680960" y="5650992"/>
            <a:ext cx="429768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80960" y="5650992"/>
            <a:ext cx="429768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18120" y="57150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File-Only Submission:</a:t>
            </a:r>
            <a:endParaRPr sz="1300" b="1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18120" y="598017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Video provided → typed description optional. System auto-generates description from frame analyses on submit.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Feature · PROJ-14 ]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13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Empathetic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65576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AI Interviewer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SOCRATES clinical framework + warm language conventions + LLM query rewriting for RAG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5577840" cy="10515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57784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onsolas"/>
              </a:rPr>
              <a:t>Generic (before):</a:t>
            </a:r>
            <a:endParaRPr sz="1100" b="0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5877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8C8D8"/>
                </a:solidFill>
                <a:latin typeface="Calibri"/>
              </a:rPr>
              <a:t>"What is the site of your pain? Rate severity 1–10. How long has it lasted?"</a:t>
            </a:r>
            <a:endParaRPr sz="1200" b="0" i="1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5577840" cy="10515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5577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Empathetic (after):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37307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8C8D8"/>
                </a:solidFill>
                <a:latin typeface="Calibri"/>
              </a:rPr>
              <a:t>"I'm sorry you're dealing with this. Could you help me understand where the discomfort is strongest? Does it spread anywhere — like your arm, jaw, or back?"</a:t>
            </a:r>
            <a:endParaRPr sz="1200" b="0" i="1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4617720"/>
            <a:ext cx="557784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557784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6817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onsolas"/>
              </a:rPr>
              <a:t>RAG Query Rewrite:</a:t>
            </a:r>
            <a:endParaRPr sz="11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49377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6B6B"/>
                </a:solidFill>
                <a:latin typeface="Calibri"/>
              </a:rPr>
              <a:t>"my chest hurts and i feel dizzy when i walk up stairs"</a:t>
            </a:r>
            <a:endParaRPr sz="1200" b="0" i="1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51937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→  "stable angina, exertional chest pain, cardiac ischaemia, coronary artery disease"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7920" y="2194560"/>
            <a:ext cx="5806440" cy="438912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194560"/>
            <a:ext cx="58064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BB5"/>
                </a:solidFill>
                <a:latin typeface="Consolas"/>
              </a:rPr>
              <a:t>SOCRATES Framework</a:t>
            </a:r>
            <a:endParaRPr sz="13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55080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C0"/>
                </a:solidFill>
                <a:latin typeface="Georgia" panose="02040502050405090303"/>
              </a:rPr>
              <a:t>S</a:t>
            </a:r>
            <a:endParaRPr sz="1600" b="1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20840" y="2697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BB5"/>
                </a:solidFill>
                <a:latin typeface="Calibri"/>
              </a:rPr>
              <a:t>Site — Where exactly is the symptom?</a:t>
            </a:r>
            <a:endParaRPr sz="13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55080" y="31821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C0"/>
                </a:solidFill>
                <a:latin typeface="Georgia" panose="02040502050405090303"/>
              </a:rPr>
              <a:t>O</a:t>
            </a:r>
            <a:endParaRPr sz="1600" b="1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20840" y="3182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BB5"/>
                </a:solidFill>
                <a:latin typeface="Calibri"/>
              </a:rPr>
              <a:t>Onset — When did it start? Sudden or gradual?</a:t>
            </a:r>
            <a:endParaRPr sz="13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55080" y="366674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C0"/>
                </a:solidFill>
                <a:latin typeface="Georgia" panose="02040502050405090303"/>
              </a:rPr>
              <a:t>C</a:t>
            </a:r>
            <a:endParaRPr sz="1600" b="1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20840" y="36667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BB5"/>
                </a:solidFill>
                <a:latin typeface="Calibri"/>
              </a:rPr>
              <a:t>Character — Sharp, dull, burning, crushing?</a:t>
            </a:r>
            <a:endParaRPr sz="13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55080" y="415137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C0"/>
                </a:solidFill>
                <a:latin typeface="Georgia" panose="02040502050405090303"/>
              </a:rPr>
              <a:t>R</a:t>
            </a:r>
            <a:endParaRPr sz="1600" b="1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20840" y="41513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BB5"/>
                </a:solidFill>
                <a:latin typeface="Calibri"/>
              </a:rPr>
              <a:t>Radiation — Does it spread anywhere?</a:t>
            </a:r>
            <a:endParaRPr sz="13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55080" y="463600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C0"/>
                </a:solidFill>
                <a:latin typeface="Georgia" panose="02040502050405090303"/>
              </a:rPr>
              <a:t>A</a:t>
            </a:r>
            <a:endParaRPr sz="1600" b="1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20840" y="4636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BB5"/>
                </a:solidFill>
                <a:latin typeface="Calibri"/>
              </a:rPr>
              <a:t>Associated symptoms — Nausea, sweat, fever?</a:t>
            </a:r>
            <a:endParaRPr sz="13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55080" y="5120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C0"/>
                </a:solidFill>
                <a:latin typeface="Georgia" panose="02040502050405090303"/>
              </a:rPr>
              <a:t>T</a:t>
            </a:r>
            <a:endParaRPr sz="1600" b="1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20840" y="5120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BB5"/>
                </a:solidFill>
                <a:latin typeface="Calibri"/>
              </a:rPr>
              <a:t>Timing — Constant or intermittent?</a:t>
            </a:r>
            <a:endParaRPr sz="13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55080" y="56052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C0"/>
                </a:solidFill>
                <a:latin typeface="Georgia" panose="02040502050405090303"/>
              </a:rPr>
              <a:t>E</a:t>
            </a:r>
            <a:endParaRPr sz="1600" b="1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20840" y="56052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BB5"/>
                </a:solidFill>
                <a:latin typeface="Calibri"/>
              </a:rPr>
              <a:t>Exacerbating / relieving factors?</a:t>
            </a:r>
            <a:endParaRPr sz="13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55080" y="608990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C0"/>
                </a:solidFill>
                <a:latin typeface="Georgia" panose="02040502050405090303"/>
              </a:rPr>
              <a:t>S</a:t>
            </a:r>
            <a:endParaRPr sz="1600" b="1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20840" y="60899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BB5"/>
                </a:solidFill>
                <a:latin typeface="Calibri"/>
              </a:rPr>
              <a:t>Severity — Mild / Moderate / Severe</a:t>
            </a:r>
            <a:endParaRPr sz="13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Feature · PROJ-11 ]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14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Safety &amp;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35224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Critic Agent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Pre-LLM safety rules + full reasoning verification + hallucination detection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713232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713232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Class 1 — Cardiac Emergency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Triggers: STEMI symptoms, crushing chest pain + radiation to jaw/arm, diaphoresis. Action: Immediate emergency escalation message before any AI reasoning.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713232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13232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Class 1 — Stroke Protocol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363931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Triggers: FAST criteria — facial droop, arm weakness, speech disturbance, sudden onset. Action: '999/911 immediately' prominent alert.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713232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713232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54864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Class 2 — Drug Interactions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464515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Triggers: anticoagulant + NSAID, MAOI + sympathomimetic, QT-prolonging combinations. Action: explicit interaction warning.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7132320" cy="914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713232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54864" cy="914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Class 3 — Reasoning Transparency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565099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Triggers: every diagnostic conclusion. Action: Critic agent reviews logic consistency, evidence alignment, hallucination markers.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72400" y="2194560"/>
            <a:ext cx="4251960" cy="406908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2194560"/>
            <a:ext cx="425196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2286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BB5"/>
                </a:solidFill>
                <a:latin typeface="Consolas"/>
              </a:rPr>
              <a:t>Critic Agent Workflow</a:t>
            </a:r>
            <a:endParaRPr sz="13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909560" y="2697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① Receives: full Diagnostician output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09560" y="32004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② Checks: logic consistency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09560" y="37033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③ Checks: evidence alignment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09560" y="42062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④ Checks: hallucination markers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909560" y="47091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⑤ Checks: safety rule triggers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909560" y="52120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⑥ Issues: "Consistent" or objection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772400" y="6400800"/>
            <a:ext cx="4251960" cy="658368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0" y="6400800"/>
            <a:ext cx="425196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647395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🛡  Pre-LLM Safety = O(1) · Pattern matching · Cannot be bypassed by prompt injection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Feature · PROJ-9 ]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15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Dual Auth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Roles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JWT-based role-claim authentication — Patient and Provider with distinct access scopes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416052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577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E8F4F8"/>
                </a:solidFill>
                <a:latin typeface="Calibri"/>
              </a:rPr>
              <a:t>🧑‍⚕️</a:t>
            </a:r>
            <a:endParaRPr sz="4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29443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4F8"/>
                </a:solidFill>
                <a:latin typeface="Georgia" panose="02040502050405090303"/>
              </a:rPr>
              <a:t>Patient Role</a:t>
            </a:r>
            <a:endParaRPr sz="26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JWT role claim · bcrypt hashed password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3675887"/>
            <a:ext cx="521208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673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→  Start new diagnostic sessions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41513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→  Upload medical files (6 modalities)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45354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→  View own session history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4919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→  Chat with AI Interviewer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→  Export own results PDF / JSON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Endpoints: /api/session/* · /api/patients/* · /api/analyze/*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09360" y="2194560"/>
            <a:ext cx="5577840" cy="416052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194560"/>
            <a:ext cx="557784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286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E8F4F8"/>
                </a:solidFill>
                <a:latin typeface="Calibri"/>
              </a:rPr>
              <a:t>👨‍💼</a:t>
            </a:r>
            <a:endParaRPr sz="4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29443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F4F8"/>
                </a:solidFill>
                <a:latin typeface="Georgia" panose="02040502050405090303"/>
              </a:rPr>
              <a:t>Provider Role</a:t>
            </a:r>
            <a:endParaRPr sz="26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onsolas"/>
              </a:rPr>
              <a:t>JWT role claim · bcrypt hashed password</a:t>
            </a:r>
            <a:endParaRPr sz="11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92240" y="3675887"/>
            <a:ext cx="5212080" cy="1905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7673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→  Access ALL patient sessions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41513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→  View cross-patient analytics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2240" y="45354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→  Provider-only dashboard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4919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→  Full audit trail with reasoning chains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92240" y="53035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8D8"/>
                </a:solidFill>
                <a:latin typeface="Calibri"/>
              </a:rPr>
              <a:t>→  Patient management panel</a:t>
            </a:r>
            <a:endParaRPr sz="13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92240" y="56692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onsolas"/>
              </a:rPr>
              <a:t>Extra endpoints: /api/provider/sessions · /api/provider/analytics</a:t>
            </a:r>
            <a:endParaRPr sz="11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6473952"/>
            <a:ext cx="11247120" cy="5486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4712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537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onsolas"/>
              </a:rPr>
              <a:t>Implementation: FastAPI OAuth2PasswordBearer · HS256-signed JWT · role field in payload · dependency injection get_current_user(role='provider') guards provider endpoints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Feature · PROJ-12 ]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16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Multilingual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95927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Support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Full react-i18next internationalisation — UI, agent responses, voice transcription in EN / ZH / JA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645920" cy="12801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164592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4F8"/>
                </a:solidFill>
                <a:latin typeface="Calibri"/>
              </a:rPr>
              <a:t>🇬🇧</a:t>
            </a:r>
            <a:endParaRPr sz="28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F4F8"/>
                </a:solidFill>
                <a:latin typeface="Calibri"/>
              </a:rPr>
              <a:t>English</a:t>
            </a:r>
            <a:endParaRPr sz="16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30358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9BB5"/>
                </a:solidFill>
                <a:latin typeface="Consolas"/>
              </a:rPr>
              <a:t>en-US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86000" y="2194560"/>
            <a:ext cx="1645920" cy="12801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2194560"/>
            <a:ext cx="164592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286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4F8"/>
                </a:solidFill>
                <a:latin typeface="Calibri"/>
              </a:rPr>
              <a:t>🇨🇳</a:t>
            </a:r>
            <a:endParaRPr sz="28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77440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F4F8"/>
                </a:solidFill>
                <a:latin typeface="Calibri"/>
              </a:rPr>
              <a:t>中文</a:t>
            </a:r>
            <a:endParaRPr sz="16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77440" y="30358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9BB5"/>
                </a:solidFill>
                <a:latin typeface="Consolas"/>
              </a:rPr>
              <a:t>zh-CN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14800" y="2194560"/>
            <a:ext cx="1645920" cy="12801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2194560"/>
            <a:ext cx="164592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86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4F8"/>
                </a:solidFill>
                <a:latin typeface="Calibri"/>
              </a:rPr>
              <a:t>🇯🇵</a:t>
            </a:r>
            <a:endParaRPr sz="28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06240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F4F8"/>
                </a:solidFill>
                <a:latin typeface="Calibri"/>
              </a:rPr>
              <a:t>日本語</a:t>
            </a:r>
            <a:endParaRPr sz="16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06240" y="30358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9BB5"/>
                </a:solidFill>
                <a:latin typeface="Consolas"/>
              </a:rPr>
              <a:t>ja-JP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5029200" cy="256032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657600"/>
            <a:ext cx="50292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490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onsolas"/>
              </a:rPr>
              <a:t>Translation Coverage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" y="4114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UI Labels &amp; Placeholders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94360" y="4361688"/>
            <a:ext cx="3931920" cy="182880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4343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100%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4617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Error Messages &amp; Disclaimers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4360" y="4864608"/>
            <a:ext cx="3931920" cy="182880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48463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100%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5120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Body Parts &amp; Duration Options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94360" y="5367528"/>
            <a:ext cx="3931920" cy="182880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8" y="534924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100%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4360" y="5623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D8"/>
                </a:solidFill>
                <a:latin typeface="Calibri"/>
              </a:rPr>
              <a:t>Voice Transcription Language</a:t>
            </a:r>
            <a:endParaRPr sz="12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94360" y="5870448"/>
            <a:ext cx="3931920" cy="182880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44568" y="58521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3 langs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760720" y="2194560"/>
            <a:ext cx="626364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60720" y="2194560"/>
            <a:ext cx="62636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23317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Tech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63640" y="228600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react-i18next + i18next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63640" y="2596896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JSON locale files · useTranslation() hook · returnObjects for arrays · localStorage persist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760720" y="3154680"/>
            <a:ext cx="626364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60720" y="3154680"/>
            <a:ext cx="62636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0" y="32918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Audio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263640" y="324612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Speech Language Auto-Detection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63640" y="3557016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navigator.language → matched to supported lang code → passed to SpeechRecognition.lang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760720" y="4114800"/>
            <a:ext cx="626364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60720" y="4114800"/>
            <a:ext cx="62636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97880" y="42519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UI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263640" y="420624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Seamless Switching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63640" y="4517136"/>
            <a:ext cx="562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Language toggle in navbar → full re-render with t() keys · no page reload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760720" y="5120640"/>
            <a:ext cx="301752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60720" y="5120640"/>
            <a:ext cx="301752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97880" y="5212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E5C0"/>
                </a:solidFill>
                <a:latin typeface="Georgia" panose="02040502050405090303"/>
              </a:rPr>
              <a:t>3</a:t>
            </a:r>
            <a:endParaRPr sz="38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897880" y="57424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Supported languages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006840" y="5120640"/>
            <a:ext cx="301752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06840" y="5120640"/>
            <a:ext cx="301752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0" y="5212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5A623"/>
                </a:solidFill>
                <a:latin typeface="Georgia" panose="02040502050405090303"/>
              </a:rPr>
              <a:t>200+</a:t>
            </a:r>
            <a:endParaRPr sz="3800" b="0" i="0">
              <a:solidFill>
                <a:srgbClr val="F5A623"/>
              </a:solidFill>
              <a:latin typeface="Georgia" panose="02040502050405090303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144000" y="57424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Translated strings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Feature · Data Persistence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17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Session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70048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Management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Automatic session persistence · full history access · one-click PDF/JSON export for clinical integration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685800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68580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SQLite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Four-Table Schema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2596896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users(id, username, role, hashed_pw) · sessions(id, patient_id, created_at, symptoms) · messages(id, session_id, role, content) · uploads(id, session_id, filename, analysis)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127248"/>
            <a:ext cx="685800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27248"/>
            <a:ext cx="68580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6440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Auto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321868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Zero-Effort Persistence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" y="3529584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Every session, message, and upload saved automatically · History page populates from DB on load · patient profile links maintained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4059935"/>
            <a:ext cx="685800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59935"/>
            <a:ext cx="68580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197095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Export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4151375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PDF + JSON Clinical Export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4462271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GET /api/session/{id}/export/pdf → formatted clinical report with diagnosis, reasoning, citations · /export/json → EHR integration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4992624"/>
            <a:ext cx="6858000" cy="82296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92624"/>
            <a:ext cx="68580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2978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Upload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" y="5084064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File Association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0120" y="539496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Files linked to session via session_id FK · analysis stored in DB · /api/sessions/{id}/uploads returns all files with analyses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98079" y="2194560"/>
            <a:ext cx="4572000" cy="34290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79" y="2194560"/>
            <a:ext cx="45720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2286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BB5"/>
                </a:solidFill>
                <a:latin typeface="Consolas"/>
              </a:rPr>
              <a:t>Results Page — 4 Tabs</a:t>
            </a:r>
            <a:endParaRPr sz="13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35240" y="2651760"/>
            <a:ext cx="73152" cy="54864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697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0"/>
                </a:solidFill>
                <a:latin typeface="Calibri"/>
              </a:rPr>
              <a:t>🩺  Diagnosis</a:t>
            </a:r>
            <a:endParaRPr sz="1400" b="1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0" y="29718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Ranked differential · probability · Critic verdict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635240" y="3383280"/>
            <a:ext cx="731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3429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🔗  Reasoning</a:t>
            </a:r>
            <a:endParaRPr sz="1400" b="1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0" y="3703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Full agent chain · Interviewer → Diagnostician → Critic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635240" y="4114800"/>
            <a:ext cx="73152" cy="548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4160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Calibri"/>
              </a:rPr>
              <a:t>📖  Literature</a:t>
            </a:r>
            <a:endParaRPr sz="1400" b="1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72400" y="4434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PubMed citations · title · authors · year · relevance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635240" y="4846320"/>
            <a:ext cx="73152" cy="548640"/>
          </a:xfrm>
          <a:prstGeom prst="rect">
            <a:avLst/>
          </a:prstGeom>
          <a:solidFill>
            <a:srgbClr val="6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4892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9BB5"/>
                </a:solidFill>
                <a:latin typeface="Calibri"/>
              </a:rPr>
              <a:t>🖼  Media</a:t>
            </a:r>
            <a:endParaRPr sz="1400" b="1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72400" y="51663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Uploaded files · annotated images with overlay dots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498079" y="5760720"/>
            <a:ext cx="214884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98079" y="5760720"/>
            <a:ext cx="2148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5239" y="58521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E5C0"/>
                </a:solidFill>
                <a:latin typeface="Georgia" panose="02040502050405090303"/>
              </a:rPr>
              <a:t>4</a:t>
            </a:r>
            <a:endParaRPr sz="38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35239" y="63825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DB tables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875520" y="5760720"/>
            <a:ext cx="2148840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0" y="5760720"/>
            <a:ext cx="214884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12680" y="58521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5A623"/>
                </a:solidFill>
                <a:latin typeface="Georgia" panose="02040502050405090303"/>
              </a:rPr>
              <a:t>2</a:t>
            </a:r>
            <a:endParaRPr sz="3800" b="0" i="0">
              <a:solidFill>
                <a:srgbClr val="F5A623"/>
              </a:solidFill>
              <a:latin typeface="Georgia" panose="02040502050405090303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012680" y="63825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Export formats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Evaluation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18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System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04872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Performance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Quantitative comparison across all major system dimensions — Demo A baseline vs current implementation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7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C8D8"/>
                </a:solidFill>
                <a:latin typeface="Consolas"/>
              </a:rPr>
              <a:t>Metric</a:t>
            </a:r>
            <a:endParaRPr sz="1100" b="1" i="0">
              <a:solidFill>
                <a:srgbClr val="A8C8D8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88920" y="217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Consolas"/>
              </a:rPr>
              <a:t>Demo A Baseline</a:t>
            </a:r>
            <a:endParaRPr sz="1100" b="1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20640" y="217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C0"/>
                </a:solidFill>
                <a:latin typeface="Consolas"/>
              </a:rPr>
              <a:t>Current System</a:t>
            </a:r>
            <a:endParaRPr sz="1100" b="1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2487168"/>
            <a:ext cx="68580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6858000" cy="34747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1518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Knowledge Corpus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88920" y="261518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~5,000 docs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0" y="261518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47,441 docs (+848%)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2935224"/>
            <a:ext cx="6858000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9008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Embedding Model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88920" y="299008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all-MiniLM 384d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20640" y="299008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BioLORD-2023 768d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3310127"/>
            <a:ext cx="6858000" cy="34747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364991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Search Strategy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88920" y="3364991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Single cosine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20640" y="3364991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Dense+BM25+RRF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3685031"/>
            <a:ext cx="6858000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39895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Query Variants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88920" y="3739895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1 raw input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20640" y="3739895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3–4 LLM-rewritten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200" y="4059935"/>
            <a:ext cx="6858000" cy="34747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114799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Recall Threshold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88920" y="4114799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0.25 (strict)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20640" y="4114799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0.15 (+recall)</a:t>
            </a:r>
            <a:endParaRPr sz="1100" b="0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4434840"/>
            <a:ext cx="6858000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48970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Input Modalities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88920" y="448970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1 (text)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20640" y="448970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6 modalities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57200" y="4809744"/>
            <a:ext cx="6858000" cy="34747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86460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Auth Roles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788920" y="486460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None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20640" y="486460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Patient + Provider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" y="5184648"/>
            <a:ext cx="6858000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23951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UI Languages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88920" y="523951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EN only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120640" y="523951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EN / ZH / JA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5559552"/>
            <a:ext cx="6858000" cy="34747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61441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Image Annotation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788920" y="561441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None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120640" y="5614416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9-region JSON overlay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7200" y="5934456"/>
            <a:ext cx="6858000" cy="347472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598932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Safety Rules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788920" y="598932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None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120640" y="5989320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alibri"/>
              </a:rPr>
              <a:t>3 classes</a:t>
            </a:r>
            <a:endParaRPr sz="1100" b="0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57200" y="6309359"/>
            <a:ext cx="6858000" cy="34747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6364223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Story Points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788920" y="6364223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6B"/>
                </a:solidFill>
                <a:latin typeface="Calibri"/>
              </a:rPr>
              <a:t>13 SP</a:t>
            </a:r>
            <a:endParaRPr sz="1100" b="0" i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20640" y="6364223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48 SP (+35)</a:t>
            </a:r>
            <a:endParaRPr sz="1100" b="0" i="0">
              <a:solidFill>
                <a:srgbClr val="F5A623"/>
              </a:solidFill>
              <a:latin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498079" y="2176272"/>
            <a:ext cx="4572000" cy="26060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98079" y="2176272"/>
            <a:ext cx="457200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35240" y="22677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onsolas"/>
              </a:rPr>
              <a:t>Key Improvement Ratios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635240" y="26334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Knowledge Base Size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635240" y="2880360"/>
            <a:ext cx="3867911" cy="146304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594591" y="28620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9.4× larger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635240" y="304495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Embedding Dims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635240" y="3291840"/>
            <a:ext cx="2057400" cy="146304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84080" y="3273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2× denser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635240" y="345643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Query Coverage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635240" y="3703320"/>
            <a:ext cx="3291840" cy="146304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18519" y="36850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3–4× more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635240" y="386791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Input Modalities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635240" y="4114800"/>
            <a:ext cx="3086100" cy="146304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812780" y="40965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6× more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635240" y="4279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D8"/>
                </a:solidFill>
                <a:latin typeface="Calibri"/>
              </a:rPr>
              <a:t>Story Points</a:t>
            </a:r>
            <a:endParaRPr sz="1100" b="0" i="0">
              <a:solidFill>
                <a:srgbClr val="A8C8D8"/>
              </a:solidFill>
              <a:latin typeface="Calibr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635240" y="4526280"/>
            <a:ext cx="3703320" cy="146304"/>
          </a:xfrm>
          <a:prstGeom prst="rect">
            <a:avLst/>
          </a:prstGeom>
          <a:solidFill>
            <a:srgbClr val="00C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29999" y="45079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+270%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7498079" y="4919472"/>
            <a:ext cx="4572000" cy="16916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498079" y="4919472"/>
            <a:ext cx="457200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35240" y="501091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onsolas"/>
              </a:rPr>
              <a:t>Scope Growth (Story Points)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229600" y="6183172"/>
            <a:ext cx="822960" cy="427939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29600" y="59271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  <a:latin typeface="Georgia" panose="02040502050405090303"/>
              </a:rPr>
              <a:t>13</a:t>
            </a:r>
            <a:endParaRPr sz="1300" b="0" i="0">
              <a:solidFill>
                <a:srgbClr val="FF6B6B"/>
              </a:solidFill>
              <a:latin typeface="Georgia" panose="02040502050405090303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22960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9BB5"/>
                </a:solidFill>
                <a:latin typeface="Calibri"/>
              </a:rPr>
              <a:t>Sprint 1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509760" y="5788152"/>
            <a:ext cx="822960" cy="82296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509760" y="55321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C0"/>
                </a:solidFill>
                <a:latin typeface="Georgia" panose="02040502050405090303"/>
              </a:rPr>
              <a:t>35</a:t>
            </a:r>
            <a:endParaRPr sz="13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50976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9BB5"/>
                </a:solidFill>
                <a:latin typeface="Calibri"/>
              </a:rPr>
              <a:t>Sprint 2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0789920" y="5821070"/>
            <a:ext cx="822960" cy="790041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789920" y="556503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  <a:latin typeface="Georgia" panose="02040502050405090303"/>
              </a:rPr>
              <a:t>48</a:t>
            </a:r>
            <a:endParaRPr sz="1300" b="0" i="0">
              <a:solidFill>
                <a:srgbClr val="F5A623"/>
              </a:solidFill>
              <a:latin typeface="Georgia" panose="02040502050405090303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789920" y="661111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9BB5"/>
                </a:solidFill>
                <a:latin typeface="Calibri"/>
              </a:rPr>
              <a:t>Total</a:t>
            </a:r>
            <a:endParaRPr sz="10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Implementation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19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Technical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Stack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Technology choices justified by clinical AI requirements — performance, biomedical specificity, zero external dependencies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749039" cy="4343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3749039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C0"/>
                </a:solidFill>
                <a:latin typeface="Consolas"/>
              </a:rPr>
              <a:t>Frontend</a:t>
            </a:r>
            <a:endParaRPr sz="13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" y="2624328"/>
            <a:ext cx="347472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8"/>
                </a:solidFill>
                <a:latin typeface="Calibri"/>
              </a:rPr>
              <a:t>⚛</a:t>
            </a:r>
            <a:endParaRPr sz="2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React + Vite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30906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Component-based UI · Fast HMR · Production bundle optimisation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8"/>
                </a:solidFill>
                <a:latin typeface="Calibri"/>
              </a:rPr>
              <a:t>🌐</a:t>
            </a:r>
            <a:endParaRPr sz="2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react-i18next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" y="40050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3-language support · JSON locale files · Runtime switching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461772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8"/>
                </a:solidFill>
                <a:latin typeface="Calibri"/>
              </a:rPr>
              <a:t>📷</a:t>
            </a:r>
            <a:endParaRPr sz="2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getUserMedia + Canvas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5840" y="49194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Webcam frame capture · toBlob() JPEG · No extra library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553212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8"/>
                </a:solidFill>
                <a:latin typeface="Calibri"/>
              </a:rPr>
              <a:t>🎨</a:t>
            </a:r>
            <a:endParaRPr sz="2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5840" y="5486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Tailwind CSS + shadcn/ui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" y="58338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Utility-first · Component library · Dark mode native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370832" y="2194560"/>
            <a:ext cx="3749039" cy="4343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2" y="2194560"/>
            <a:ext cx="3749039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C0"/>
                </a:solidFill>
                <a:latin typeface="Consolas"/>
              </a:rPr>
              <a:t>Backend</a:t>
            </a:r>
            <a:endParaRPr sz="13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07992" y="2624328"/>
            <a:ext cx="347472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278892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8"/>
                </a:solidFill>
                <a:latin typeface="Calibri"/>
              </a:rPr>
              <a:t>⚡</a:t>
            </a:r>
            <a:endParaRPr sz="2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19472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FastAPI + Uvicorn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19472" y="30906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Async Python · Type-safe endpoints · Auto-generated OpenAPI docs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07992" y="370332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8"/>
                </a:solidFill>
                <a:latin typeface="Calibri"/>
              </a:rPr>
              <a:t>🔐</a:t>
            </a:r>
            <a:endParaRPr sz="2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19472" y="3657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JWT + bcrypt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19472" y="40050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HS256-signed tokens · Role claims · Password hashing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07992" y="461772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8"/>
                </a:solidFill>
                <a:latin typeface="Calibri"/>
              </a:rPr>
              <a:t>🗄</a:t>
            </a:r>
            <a:endParaRPr sz="2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19472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SQLite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19472" y="49194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Zero-config persistence · 4 tables · FK relationships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07992" y="553212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8"/>
                </a:solidFill>
                <a:latin typeface="Calibri"/>
              </a:rPr>
              <a:t>🩻</a:t>
            </a:r>
            <a:endParaRPr sz="2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19472" y="5486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pydicom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19472" y="58338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DICOM file parsing · Pixel array extraction · HU normalisation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284464" y="2194560"/>
            <a:ext cx="3749039" cy="434340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84464" y="2194560"/>
            <a:ext cx="3749039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1624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C0"/>
                </a:solidFill>
                <a:latin typeface="Consolas"/>
              </a:rPr>
              <a:t>Knowledge / AI</a:t>
            </a:r>
            <a:endParaRPr sz="13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421624" y="2624328"/>
            <a:ext cx="347472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21624" y="278892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8"/>
                </a:solidFill>
                <a:latin typeface="Calibri"/>
              </a:rPr>
              <a:t>🔍</a:t>
            </a:r>
            <a:endParaRPr sz="2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833104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Qdrant (embedded)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833104" y="30906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Dense + Sparse hybrid · In-process · No network hop · RRF fusion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21624" y="370332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8"/>
                </a:solidFill>
                <a:latin typeface="Calibri"/>
              </a:rPr>
              <a:t>🧬</a:t>
            </a:r>
            <a:endParaRPr sz="2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33104" y="3657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BioLORD-2023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833104" y="40050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Biomedical ontology training · SNOMED CT · MeSH · UMLS · 768d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421624" y="461772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8"/>
                </a:solidFill>
                <a:latin typeface="Calibri"/>
              </a:rPr>
              <a:t>📊</a:t>
            </a:r>
            <a:endParaRPr sz="2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833104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BM25 Sparse Encoder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833104" y="49194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Keyword matching · Complements dense vectors · Qdrant native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421624" y="553212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4F8"/>
                </a:solidFill>
                <a:latin typeface="Calibri"/>
              </a:rPr>
              <a:t>🤖</a:t>
            </a:r>
            <a:endParaRPr sz="2000" b="0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833104" y="5486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4F8"/>
                </a:solidFill>
                <a:latin typeface="Calibri"/>
              </a:rPr>
              <a:t>Anthropic claude-sonnet-4-6</a:t>
            </a:r>
            <a:endParaRPr sz="14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833104" y="583387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3-agent orchestration · Vision · Structured JSON output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Engineering Quality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20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Design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04872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Principles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Architectural decisions that ensure clinical-grade reliability, safety, and extensibility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1024128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577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01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2267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Safety-First — Pre-LLM Rules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67004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Hard-coded safety triggers evaluated before any LLM call. Pattern matching is O(1) and cannot be bypassed by prompt injection.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09360" y="2194560"/>
            <a:ext cx="5577840" cy="1024128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194560"/>
            <a:ext cx="5577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02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49440" y="2267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Grounded Outputs — No Fabrication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6520" y="267004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Every diagnostic claim must be supported by a retrieved PubMed passage. Diagnostician explicitly instructed not to claim unsupported facts.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3291839"/>
            <a:ext cx="5577840" cy="1024128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91839"/>
            <a:ext cx="5577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83279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03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97280" y="336499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Agent Separation of Concerns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3767327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Interviewer, Diagnostician, and Critic have distinct system prompts with no cross-contamination — minimises prompt injection surface.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09360" y="3291839"/>
            <a:ext cx="5577840" cy="1024128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291839"/>
            <a:ext cx="5577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383279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04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49440" y="336499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Full Audit Trail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46520" y="3767327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Every agent's reasoning chain stored in SQLite. Provider can review, export, and dispute any AI output for clinical accountability.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200" y="4389120"/>
            <a:ext cx="5577840" cy="1024128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389120"/>
            <a:ext cx="5577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480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05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97280" y="44622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Zero External Service Dependencies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486460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Qdrant embedded in-process, SQLite local, Web Speech API browser-native, Canvas API built-in — resilient, cost-free, offline-capable.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09360" y="4389120"/>
            <a:ext cx="5577840" cy="1024128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389120"/>
            <a:ext cx="5577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480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06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49440" y="44622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Progressive Disclosure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46520" y="486460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Simple input for patients; full reasoning chain, citations, and provider analytics accessible without overwhelming the primary user flow.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7200" y="5486400"/>
            <a:ext cx="5577840" cy="1024128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486400"/>
            <a:ext cx="5577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577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07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55595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Multilingual by Design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4360" y="596188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i18n implemented from the start, not retrofitted. All strings externalised to JSON locale files — adding new languages is a single file.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309360" y="5486400"/>
            <a:ext cx="5577840" cy="1024128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5486400"/>
            <a:ext cx="5577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5577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08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949440" y="55595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F4F8"/>
                </a:solidFill>
                <a:latin typeface="Calibri"/>
              </a:rPr>
              <a:t>Graceful Degradation</a:t>
            </a:r>
            <a:endParaRPr sz="15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46520" y="596188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All multimodal features degrade gracefully — if file analysis fails, session continues with text-only. No single point of failure.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Honest Evaluation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21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Limitations &amp;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61103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Future Work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Transparent assessment of current boundaries and roadmap for further research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141732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57784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4F8"/>
                </a:solidFill>
                <a:latin typeface="Calibri"/>
              </a:rPr>
              <a:t>Evaluation Scope</a:t>
            </a:r>
            <a:endParaRPr sz="16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System evaluated on qualitative case studies and manual review. No standardised clinical NLP benchmark (MedQA, PubMedQA) run due to time constraints.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9360" y="2194560"/>
            <a:ext cx="5577840" cy="141732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194560"/>
            <a:ext cx="557784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4F8"/>
                </a:solidFill>
                <a:latin typeface="Calibri"/>
              </a:rPr>
              <a:t>Corpus Currency</a:t>
            </a:r>
            <a:endParaRPr sz="16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2633472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PubMed snapshot at ingestion time — new research published after ingest date not retrievable without re-running /api/rag/ingest.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5577840" cy="141732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557784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4F8"/>
                </a:solidFill>
                <a:latin typeface="Calibri"/>
              </a:rPr>
              <a:t>Latency</a:t>
            </a:r>
            <a:endParaRPr sz="16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4142232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3-agent sequential pipeline adds 8–15 s per diagnosis versus single-model approaches. Acceptable for non-urgent consultation; unsuitable for real-time triage.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09360" y="3703320"/>
            <a:ext cx="5577840" cy="141732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703320"/>
            <a:ext cx="557784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94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4F8"/>
                </a:solidFill>
                <a:latin typeface="Calibri"/>
              </a:rPr>
              <a:t>No EHR Integration</a:t>
            </a:r>
            <a:endParaRPr sz="16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4142232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System operates independently — no connection to hospital EMR/EHR systems. Clinical data must be entered manually.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5321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C0"/>
                </a:solidFill>
                <a:latin typeface="Consolas"/>
              </a:rPr>
              <a:t>Future Directions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  <a:latin typeface="Calibri"/>
              </a:rPr>
              <a:t>① Benchmark Evaluation:</a:t>
            </a:r>
            <a:endParaRPr sz="1300" b="1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4612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Run against MedQA, PubMedQA, MIMIC-III to quantify accuracy gains over baseline LLM.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0936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  <a:latin typeface="Calibri"/>
              </a:rPr>
              <a:t>② On-Demand RAG Update:</a:t>
            </a:r>
            <a:endParaRPr sz="1300" b="1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9828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Schedule PubMed delta ingest via /api/rag/ingest — keep knowledge currency without full re-ingest.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  <a:latin typeface="Calibri"/>
              </a:rPr>
              <a:t>③ Voice-First UI Rebuild:</a:t>
            </a:r>
            <a:endParaRPr sz="1300" b="1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46120" y="6126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Redesign around reliable audio pipeline — server-side Whisper transcription for production-grade voice input.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0936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0"/>
                </a:solidFill>
                <a:latin typeface="Calibri"/>
              </a:rPr>
              <a:t>④ HL7 FHIR Integration:</a:t>
            </a:r>
            <a:endParaRPr sz="1300" b="1" i="0">
              <a:solidFill>
                <a:srgbClr val="00E5C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098280" y="6126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alibri"/>
              </a:rPr>
              <a:t>Export session data in FHIR R4 format for direct EHR/EMR import.</a:t>
            </a:r>
            <a:endParaRPr sz="11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0"/>
                </a:solidFill>
                <a:latin typeface="Consolas"/>
              </a:rPr>
              <a:t>[ Research Contribution ]</a:t>
            </a:r>
            <a:endParaRPr sz="11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A9BB5"/>
                </a:solidFill>
                <a:latin typeface="Consolas"/>
              </a:rPr>
              <a:t>22 / 23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E8F4F8"/>
                </a:solidFill>
                <a:latin typeface="Georgia" panose="02040502050405090303"/>
              </a:rPr>
              <a:t>Key </a:t>
            </a:r>
            <a:endParaRPr sz="52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9343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00E5C0"/>
                </a:solidFill>
                <a:latin typeface="Georgia" panose="02040502050405090303"/>
              </a:rPr>
              <a:t>Contributions</a:t>
            </a:r>
            <a:endParaRPr sz="52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A9BB5"/>
                </a:solidFill>
                <a:latin typeface="Calibri"/>
              </a:rPr>
              <a:t>What this project demonstrates that existing solutions do not</a:t>
            </a:r>
            <a:endParaRPr sz="15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7432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84831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577840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73152" cy="2084831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F4F8"/>
                </a:solidFill>
                <a:latin typeface="Calibri"/>
              </a:rPr>
              <a:t>Multi-Agent Clinical Simulation</a:t>
            </a:r>
            <a:endParaRPr sz="17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First demonstration of a three-specialist agent pipeline (Interviewer → Diagnostician → Critic) specifically designed to mirror multi-disciplinary clinical team decision-making with safety verification.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C0"/>
                </a:solidFill>
                <a:latin typeface="Consolas"/>
              </a:rPr>
              <a:t>Addresses: hallucination, single-point reasoning failure, missing safety layer</a:t>
            </a:r>
            <a:endParaRPr sz="10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9360" y="2194560"/>
            <a:ext cx="5577840" cy="2084831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194560"/>
            <a:ext cx="557784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194560"/>
            <a:ext cx="73152" cy="2084831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2860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F4F8"/>
                </a:solidFill>
                <a:latin typeface="Calibri"/>
              </a:rPr>
              <a:t>Multimodal-Enriched RAG</a:t>
            </a:r>
            <a:endParaRPr sz="17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26517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Novel pipeline combining LLM-rewritten medical queries (patient language → SNOMED/MeSH), BioLORD-2023 biomedical embeddings, BM25 sparse search, and RRF fusion on a 47,441-document PubMed corpus. Image findings extracted via LLM and injected into RAG queries.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3703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onsolas"/>
              </a:rPr>
              <a:t>Addresses: knowledge currency, retrieval precision, multimodal gap</a:t>
            </a:r>
            <a:endParaRPr sz="1000" b="0" i="0">
              <a:solidFill>
                <a:srgbClr val="F5A623"/>
              </a:solidFill>
              <a:latin typeface="Consola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5577840" cy="2084831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89120"/>
            <a:ext cx="5577840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73152" cy="2084831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80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F4F8"/>
                </a:solidFill>
                <a:latin typeface="Calibri"/>
              </a:rPr>
              <a:t>Empathetic Clinical Dialogue</a:t>
            </a:r>
            <a:endParaRPr sz="17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Systematic application of SOCRATES framework within an LLM-powered agent with explicit empathy conventions — warm language, concern acknowledgement before clinical probing — alongside multilingual support.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6B"/>
                </a:solidFill>
                <a:latin typeface="Consolas"/>
              </a:rPr>
              <a:t>Addresses: patient-centred design, accessibility, language barrier</a:t>
            </a:r>
            <a:endParaRPr sz="1000" b="0" i="0">
              <a:solidFill>
                <a:srgbClr val="FF6B6B"/>
              </a:solidFill>
              <a:latin typeface="Consola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09360" y="4389120"/>
            <a:ext cx="5577840" cy="2084831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389120"/>
            <a:ext cx="5577840" cy="25400"/>
          </a:xfrm>
          <a:prstGeom prst="rect">
            <a:avLst/>
          </a:prstGeom>
          <a:solidFill>
            <a:srgbClr val="6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389120"/>
            <a:ext cx="73152" cy="2084831"/>
          </a:xfrm>
          <a:prstGeom prst="rect">
            <a:avLst/>
          </a:prstGeom>
          <a:solidFill>
            <a:srgbClr val="6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F4F8"/>
                </a:solidFill>
                <a:latin typeface="Calibri"/>
              </a:rPr>
              <a:t>Explainable Safety Architecture</a:t>
            </a:r>
            <a:endParaRPr sz="1700" b="1" i="0">
              <a:solidFill>
                <a:srgbClr val="E8F4F8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92240" y="48463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BB5"/>
                </a:solidFill>
                <a:latin typeface="Calibri"/>
              </a:rPr>
              <a:t>Full reasoning audit trail per session stored in SQLite, accessible via Results → Reasoning tab. Pre-LLM pattern-matched safety rules guarantee O(1) escalation independent of model behaviour.</a:t>
            </a:r>
            <a:endParaRPr sz="1200" b="0" i="0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92240" y="5897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9BB5"/>
                </a:solidFill>
                <a:latin typeface="Consolas"/>
              </a:rPr>
              <a:t>Addresses: clinical accountability, auditability, regulatory compliance</a:t>
            </a:r>
            <a:endParaRPr sz="10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5C0"/>
                </a:solidFill>
                <a:latin typeface="Consolas"/>
              </a:rPr>
              <a:t>COMP9900 · Team 9900-W18C-CAKE · UNSW Sydney</a:t>
            </a:r>
            <a:endParaRPr sz="1200" b="0" i="0">
              <a:solidFill>
                <a:srgbClr val="00E5C0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0" i="0">
                <a:solidFill>
                  <a:srgbClr val="E8F4F8"/>
                </a:solidFill>
                <a:latin typeface="Georgia" panose="02040502050405090303"/>
              </a:rPr>
              <a:t>Medi</a:t>
            </a:r>
            <a:endParaRPr sz="10000" b="0" i="0">
              <a:solidFill>
                <a:srgbClr val="E8F4F8"/>
              </a:solidFill>
              <a:latin typeface="Georgia" panose="0204050205040509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92040" y="13716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0" i="1">
                <a:solidFill>
                  <a:srgbClr val="00E5C0"/>
                </a:solidFill>
                <a:latin typeface="Georgia" panose="02040502050405090303"/>
              </a:rPr>
              <a:t>Chain</a:t>
            </a:r>
            <a:endParaRPr sz="10000" b="0" i="1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6A9BB5"/>
                </a:solidFill>
                <a:latin typeface="Calibri"/>
              </a:rPr>
              <a:t>A Multi-Agent Collaborative System for Empathetic Clinical Diagnostic Reasoning</a:t>
            </a:r>
            <a:endParaRPr sz="1900" b="0" i="1">
              <a:solidFill>
                <a:srgbClr val="6A9BB5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800" y="3886200"/>
            <a:ext cx="8229600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3749039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3749039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251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0E5C0"/>
                </a:solidFill>
                <a:latin typeface="Georgia" panose="02040502050405090303"/>
              </a:rPr>
              <a:t>47,441</a:t>
            </a:r>
            <a:endParaRPr sz="36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4800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onsolas"/>
              </a:rPr>
              <a:t>Medical Documents in RAG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0832" y="4206240"/>
            <a:ext cx="3749039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4206240"/>
            <a:ext cx="3749039" cy="2540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4251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0E5C0"/>
                </a:solidFill>
                <a:latin typeface="Georgia" panose="02040502050405090303"/>
              </a:rPr>
              <a:t>48 SP</a:t>
            </a:r>
            <a:endParaRPr sz="3600" b="0" i="0">
              <a:solidFill>
                <a:srgbClr val="00E5C0"/>
              </a:solidFill>
              <a:latin typeface="Georgia" panose="0204050205040509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07992" y="4800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onsolas"/>
              </a:rPr>
              <a:t>Total Story Points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84464" y="4206240"/>
            <a:ext cx="3749039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4" y="4206240"/>
            <a:ext cx="3749039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4251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5A623"/>
                </a:solidFill>
                <a:latin typeface="Georgia" panose="02040502050405090303"/>
              </a:rPr>
              <a:t>6</a:t>
            </a:r>
            <a:endParaRPr sz="3600" b="0" i="0">
              <a:solidFill>
                <a:srgbClr val="F5A623"/>
              </a:solidFill>
              <a:latin typeface="Georgia" panose="0204050205040509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21624" y="4800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onsolas"/>
              </a:rPr>
              <a:t>Input Modalities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3749039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3749039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349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5A623"/>
                </a:solidFill>
                <a:latin typeface="Georgia" panose="02040502050405090303"/>
              </a:rPr>
              <a:t>3</a:t>
            </a:r>
            <a:endParaRPr sz="3600" b="0" i="0">
              <a:solidFill>
                <a:srgbClr val="F5A623"/>
              </a:solidFill>
              <a:latin typeface="Georgia" panose="0204050205040509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5897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onsolas"/>
              </a:rPr>
              <a:t>UI Languages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70832" y="5303520"/>
            <a:ext cx="3749039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0832" y="5303520"/>
            <a:ext cx="3749039" cy="25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5349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6B6B"/>
                </a:solidFill>
                <a:latin typeface="Georgia" panose="02040502050405090303"/>
              </a:rPr>
              <a:t>9.4×</a:t>
            </a:r>
            <a:endParaRPr sz="3600" b="0" i="0">
              <a:solidFill>
                <a:srgbClr val="FF6B6B"/>
              </a:solidFill>
              <a:latin typeface="Georgia" panose="020405020504050903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07992" y="5897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onsolas"/>
              </a:rPr>
              <a:t>Knowledge Base Growth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84464" y="5303520"/>
            <a:ext cx="3749039" cy="1005840"/>
          </a:xfrm>
          <a:prstGeom prst="rect">
            <a:avLst/>
          </a:prstGeom>
          <a:solidFill>
            <a:srgbClr val="0D1F35"/>
          </a:solidFill>
          <a:ln w="6350">
            <a:solidFill>
              <a:srgbClr val="004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84464" y="5303520"/>
            <a:ext cx="3749039" cy="25400"/>
          </a:xfrm>
          <a:prstGeom prst="rect">
            <a:avLst/>
          </a:prstGeom>
          <a:solidFill>
            <a:srgbClr val="6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5349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6A9BB5"/>
                </a:solidFill>
                <a:latin typeface="Georgia" panose="02040502050405090303"/>
              </a:rPr>
              <a:t>768d</a:t>
            </a:r>
            <a:endParaRPr sz="3600" b="0" i="0">
              <a:solidFill>
                <a:srgbClr val="6A9BB5"/>
              </a:solidFill>
              <a:latin typeface="Georgia" panose="020405020504050903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21624" y="5897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BB5"/>
                </a:solidFill>
                <a:latin typeface="Consolas"/>
              </a:rPr>
              <a:t>BioLORD Embedding Dims</a:t>
            </a:r>
            <a:endParaRPr sz="1100" b="0" i="0">
              <a:solidFill>
                <a:srgbClr val="6A9BB5"/>
              </a:solidFill>
              <a:latin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06080"/>
                </a:solidFill>
                <a:latin typeface="Georgia" panose="02040502050405090303"/>
              </a:rPr>
              <a:t>Thank you</a:t>
            </a:r>
            <a:endParaRPr sz="1400" b="0" i="1">
              <a:solidFill>
                <a:srgbClr val="306080"/>
              </a:solidFill>
              <a:latin typeface="Georgia" panose="02040502050405090303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21424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19975</Words>
  <Application>WPS 演示</Application>
  <PresentationFormat>On-screen Show (4:3)</PresentationFormat>
  <Paragraphs>1434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0" baseType="lpstr">
      <vt:lpstr>Arial</vt:lpstr>
      <vt:lpstr>宋体</vt:lpstr>
      <vt:lpstr>Wingdings</vt:lpstr>
      <vt:lpstr>Arial</vt:lpstr>
      <vt:lpstr>Consolas</vt:lpstr>
      <vt:lpstr>Thonburi</vt:lpstr>
      <vt:lpstr>Georgia</vt:lpstr>
      <vt:lpstr>Calibri</vt:lpstr>
      <vt:lpstr>Helvetica Neue</vt:lpstr>
      <vt:lpstr>汉仪书宋二KW</vt:lpstr>
      <vt:lpstr>华文仿宋</vt:lpstr>
      <vt:lpstr>微软雅黑</vt:lpstr>
      <vt:lpstr>汉仪旗黑</vt:lpstr>
      <vt:lpstr>宋体</vt:lpstr>
      <vt:lpstr>Arial Unicode MS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绿树青苔半夕阳</cp:lastModifiedBy>
  <cp:revision>2</cp:revision>
  <dcterms:created xsi:type="dcterms:W3CDTF">2026-04-07T09:23:07Z</dcterms:created>
  <dcterms:modified xsi:type="dcterms:W3CDTF">2026-04-07T09:23:07Z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A443CABD2AD10410FBCCD4695756338E_42</vt:lpwstr>
  </property>
  <property fmtid="{D5CDD505-2E9C-101B-9397-08002B2CF9AE}" pid="3" name="KSOProductBuildVer">
    <vt:lpwstr>2052-6.7.1.8828</vt:lpwstr>
  </property>
</Properties>
</file>